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01168" indent="-201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Problem Statement ID – SIH26121</a:t>
            </a:r>
          </a:p>
          <a:p>
            <a:pPr marL="201168" indent="-201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Problem Statement Title- eRTMAC-NWIS (Nearby Wells Intelligence System): An AI-Powered Offset Well Knowledge and Decision Support Platform for Drilling Operations</a:t>
            </a:r>
          </a:p>
          <a:p>
            <a:pPr marL="201168" indent="-201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Theme- Smart Automation</a:t>
            </a:r>
          </a:p>
          <a:p>
            <a:pPr marL="201168" indent="-201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PS Category- Software</a:t>
            </a:r>
          </a:p>
          <a:p>
            <a:pPr marL="201168" indent="-201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Team ID-</a:t>
            </a:r>
          </a:p>
          <a:p>
            <a:pPr marL="201168" indent="-201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Team Name (Registered on portal)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Organisation- Oil India Limited  |  eRTMAC, Field HQ Duliajan, Assam</a:t>
            </a:r>
          </a:p>
          <a:p>
            <a:pPr marL="0" indent="0">
              <a:buNone/>
            </a:pPr>
            <a:r>
              <a:rPr lang="en-IN" sz="1500" b="1" i="1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“What nearby wells learned,</a:t>
            </a:r>
          </a:p>
          <a:p>
            <a:pPr marL="0" indent="0">
              <a:buNone/>
            </a:pPr>
            <a:r>
              <a:rPr lang="en-IN" sz="1500" b="1" i="1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on screen before the bit gets there”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NWIS: Offset-Well Memory with Look-Ahead Alerts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02920" y="1170432"/>
            <a:ext cx="11247120" cy="841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IN" sz="180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Proposed Solution (Describe your Idea/Solution/Prototype)</a:t>
            </a:r>
          </a:p>
          <a:p>
            <a:pPr marL="0" indent="0">
              <a:buNone/>
            </a:pPr>
            <a:r>
              <a:rPr lang="en-IN" sz="13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For Oil India's drilling teams at Duliajan and on the rig: a memory of what went wrong in nearby wells, drawn from their old reports, that warns the rig before the bit reaches the same trouble.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FD_A"/>
          <p:cNvSpPr/>
          <p:nvPr/>
        </p:nvSpPr>
        <p:spPr>
          <a:xfrm>
            <a:off x="292608" y="2066544"/>
            <a:ext cx="3678936" cy="3364992"/>
          </a:xfrm>
          <a:prstGeom prst="roundRect">
            <a:avLst>
              <a:gd name="adj" fmla="val 3260"/>
            </a:avLst>
          </a:prstGeom>
          <a:solidFill>
            <a:srgbClr val="FEF8F3"/>
          </a:solidFill>
          <a:ln w="19050">
            <a:solidFill>
              <a:srgbClr val="C55A11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5364" name="FD_A_hdr"/>
          <p:cNvSpPr/>
          <p:nvPr/>
        </p:nvSpPr>
        <p:spPr>
          <a:xfrm>
            <a:off x="292608" y="2066544"/>
            <a:ext cx="3678936" cy="530352"/>
          </a:xfrm>
          <a:prstGeom prst="round2SameRect">
            <a:avLst>
              <a:gd name="adj1" fmla="val 20689"/>
              <a:gd name="adj2" fmla="val 0"/>
            </a:avLst>
          </a:prstGeom>
          <a:solidFill>
            <a:srgbClr val="C55A11"/>
          </a:solidFill>
          <a:ln>
            <a:noFill/>
          </a:ln>
        </p:spPr>
        <p:txBody>
          <a:bodyPr rtlCol="0" anchor="ctr" wrap="square" lIns="73152" tIns="0" rIns="73152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Detailed explanation of the proposed solution</a:t>
            </a:r>
            <a:endParaRPr lang="en-IN" sz="1300" dirty="0"/>
          </a:p>
        </p:txBody>
      </p:sp>
      <p:sp>
        <p:nvSpPr>
          <p:cNvPr id="15365" name="FD_B"/>
          <p:cNvSpPr/>
          <p:nvPr/>
        </p:nvSpPr>
        <p:spPr>
          <a:xfrm>
            <a:off x="4300728" y="2066544"/>
            <a:ext cx="3678936" cy="3364992"/>
          </a:xfrm>
          <a:prstGeom prst="roundRect">
            <a:avLst>
              <a:gd name="adj" fmla="val 3260"/>
            </a:avLst>
          </a:prstGeom>
          <a:solidFill>
            <a:srgbClr val="F6FBF6"/>
          </a:solidFill>
          <a:ln w="19050">
            <a:solidFill>
              <a:srgbClr val="2E7D32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5366" name="FD_B_hdr"/>
          <p:cNvSpPr/>
          <p:nvPr/>
        </p:nvSpPr>
        <p:spPr>
          <a:xfrm>
            <a:off x="4300728" y="2066544"/>
            <a:ext cx="3678936" cy="530352"/>
          </a:xfrm>
          <a:prstGeom prst="round2SameRect">
            <a:avLst>
              <a:gd name="adj1" fmla="val 20689"/>
              <a:gd name="adj2" fmla="val 0"/>
            </a:avLst>
          </a:prstGeom>
          <a:solidFill>
            <a:srgbClr val="2E7D32"/>
          </a:solidFill>
          <a:ln>
            <a:noFill/>
          </a:ln>
        </p:spPr>
        <p:txBody>
          <a:bodyPr rtlCol="0" anchor="ctr" wrap="square" lIns="73152" tIns="0" rIns="73152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it addresses the problem</a:t>
            </a:r>
            <a:endParaRPr lang="en-IN" sz="1300" dirty="0"/>
          </a:p>
        </p:txBody>
      </p:sp>
      <p:sp>
        <p:nvSpPr>
          <p:cNvPr id="15367" name="FD_C"/>
          <p:cNvSpPr/>
          <p:nvPr/>
        </p:nvSpPr>
        <p:spPr>
          <a:xfrm>
            <a:off x="8308848" y="2066544"/>
            <a:ext cx="3678936" cy="3364992"/>
          </a:xfrm>
          <a:prstGeom prst="roundRect">
            <a:avLst>
              <a:gd name="adj" fmla="val 3260"/>
            </a:avLst>
          </a:prstGeom>
          <a:solidFill>
            <a:srgbClr val="F6F8FC"/>
          </a:solidFill>
          <a:ln w="19050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5368" name="FD_C_hdr"/>
          <p:cNvSpPr/>
          <p:nvPr/>
        </p:nvSpPr>
        <p:spPr>
          <a:xfrm>
            <a:off x="8308848" y="2066544"/>
            <a:ext cx="3678936" cy="530352"/>
          </a:xfrm>
          <a:prstGeom prst="round2SameRect">
            <a:avLst>
              <a:gd name="adj1" fmla="val 20689"/>
              <a:gd name="adj2" fmla="val 0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73152" tIns="0" rIns="73152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Innovation and uniqueness of the solution</a:t>
            </a:r>
            <a:endParaRPr lang="en-IN" sz="1300" dirty="0"/>
          </a:p>
        </p:txBody>
      </p:sp>
      <p:sp>
        <p:nvSpPr>
          <p:cNvPr id="15369" name="FD_K"/>
          <p:cNvSpPr/>
          <p:nvPr/>
        </p:nvSpPr>
        <p:spPr>
          <a:xfrm>
            <a:off x="292608" y="5541264"/>
            <a:ext cx="11695176" cy="758952"/>
          </a:xfrm>
          <a:prstGeom prst="roundRect">
            <a:avLst>
              <a:gd name="adj" fmla="val 12048"/>
            </a:avLst>
          </a:prstGeom>
          <a:solidFill>
            <a:srgbClr val="F9F7FD"/>
          </a:solidFill>
          <a:ln w="15875">
            <a:solidFill>
              <a:srgbClr val="5B3FA0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5370" name="FD_K_hdr"/>
          <p:cNvSpPr/>
          <p:nvPr/>
        </p:nvSpPr>
        <p:spPr>
          <a:xfrm>
            <a:off x="292608" y="5541264"/>
            <a:ext cx="11695176" cy="246888"/>
          </a:xfrm>
          <a:prstGeom prst="round2SameRect">
            <a:avLst>
              <a:gd name="adj1" fmla="val 37037"/>
              <a:gd name="adj2" fmla="val 0"/>
            </a:avLst>
          </a:prstGeom>
          <a:solidFill>
            <a:srgbClr val="5B3FA0"/>
          </a:solidFill>
          <a:ln>
            <a:noFill/>
          </a:ln>
        </p:spPr>
        <p:txBody>
          <a:bodyPr rtlCol="0" anchor="ctr" wrap="square" lIns="109728" tIns="0" rIns="54864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Links (fill in before submission)</a:t>
            </a:r>
            <a:endParaRPr lang="en-IN" sz="1200" dirty="0"/>
          </a:p>
        </p:txBody>
      </p:sp>
      <p:sp>
        <p:nvSpPr>
          <p:cNvPr id="15371" name="FD_A_disc"/>
          <p:cNvSpPr/>
          <p:nvPr/>
        </p:nvSpPr>
        <p:spPr>
          <a:xfrm>
            <a:off x="1766316" y="2660904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5A1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72" name="FD_B_disc"/>
          <p:cNvSpPr/>
          <p:nvPr/>
        </p:nvSpPr>
        <p:spPr>
          <a:xfrm>
            <a:off x="5774436" y="2660904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73" name="FD_C_disc"/>
          <p:cNvSpPr/>
          <p:nvPr/>
        </p:nvSpPr>
        <p:spPr>
          <a:xfrm>
            <a:off x="9782556" y="2660904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97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74" name="FD_A_txt"/>
          <p:cNvSpPr txBox="1"/>
          <p:nvPr/>
        </p:nvSpPr>
        <p:spPr>
          <a:xfrm>
            <a:off x="384048" y="3438144"/>
            <a:ext cx="3496056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 standalone memory beside the live feed:</a:t>
            </a:r>
            <a:endParaRPr lang="en-IN" sz="11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old well reports become a searchable,</a:t>
            </a:r>
            <a:endParaRPr lang="en-IN" sz="11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cited record of what went wrong.</a:t>
            </a:r>
            <a:endParaRPr lang="en-IN" sz="1150" dirty="0"/>
          </a:p>
        </p:txBody>
      </p:sp>
      <p:sp>
        <p:nvSpPr>
          <p:cNvPr id="15375" name="FD_A_d1"/>
          <p:cNvSpPr/>
          <p:nvPr/>
        </p:nvSpPr>
        <p:spPr>
          <a:xfrm>
            <a:off x="365760" y="4059936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Reads Well Completion + Daily Drilling Reports (WCR, DDR)</a:t>
            </a:r>
            <a:endParaRPr lang="en-IN" sz="950" dirty="0"/>
          </a:p>
        </p:txBody>
      </p:sp>
      <p:sp>
        <p:nvSpPr>
          <p:cNvPr id="15376" name="FD_A_d2"/>
          <p:cNvSpPr/>
          <p:nvPr/>
        </p:nvSpPr>
        <p:spPr>
          <a:xfrm>
            <a:off x="365760" y="4338828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Every extracted incident cites its page + a confidence</a:t>
            </a:r>
            <a:endParaRPr lang="en-IN" sz="950" dirty="0"/>
          </a:p>
        </p:txBody>
      </p:sp>
      <p:sp>
        <p:nvSpPr>
          <p:cNvPr id="15377" name="FD_A_d3"/>
          <p:cNvSpPr/>
          <p:nvPr/>
        </p:nvSpPr>
        <p:spPr>
          <a:xfrm>
            <a:off x="365760" y="4617720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Low-confidence rows wait in an engineer review queue</a:t>
            </a:r>
            <a:endParaRPr lang="en-IN" sz="950" dirty="0"/>
          </a:p>
        </p:txBody>
      </p:sp>
      <p:sp>
        <p:nvSpPr>
          <p:cNvPr id="15378" name="FD_A_d4"/>
          <p:cNvSpPr/>
          <p:nvPr/>
        </p:nvSpPr>
        <p:spPr>
          <a:xfrm>
            <a:off x="365760" y="4896612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Two views: Duliajan office (full) · rig (alerts first)</a:t>
            </a:r>
            <a:endParaRPr lang="en-IN" sz="950" dirty="0"/>
          </a:p>
        </p:txBody>
      </p:sp>
      <p:sp>
        <p:nvSpPr>
          <p:cNvPr id="15379" name="FD_A_d5"/>
          <p:cNvSpPr/>
          <p:nvPr/>
        </p:nvSpPr>
        <p:spPr>
          <a:xfrm>
            <a:off x="365760" y="5175504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Runs beside eRTMAC, Duliajan's real-time drilling centre</a:t>
            </a:r>
            <a:endParaRPr lang="en-IN" sz="950" dirty="0"/>
          </a:p>
        </p:txBody>
      </p:sp>
      <p:sp>
        <p:nvSpPr>
          <p:cNvPr id="15380" name="FD_B_txt"/>
          <p:cNvSpPr txBox="1"/>
          <p:nvPr/>
        </p:nvSpPr>
        <p:spPr>
          <a:xfrm>
            <a:off x="4392168" y="3438144"/>
            <a:ext cx="3496056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Today the answer sits in someone's memory</a:t>
            </a:r>
            <a:endParaRPr lang="en-IN" sz="11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or a report nobody has time to read;</a:t>
            </a:r>
            <a:endParaRPr lang="en-IN" sz="11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now it is one question away.</a:t>
            </a:r>
            <a:endParaRPr lang="en-IN" sz="1150" dirty="0"/>
          </a:p>
        </p:txBody>
      </p:sp>
      <p:sp>
        <p:nvSpPr>
          <p:cNvPr id="15381" name="FD_B_d1"/>
          <p:cNvSpPr/>
          <p:nvPr/>
        </p:nvSpPr>
        <p:spPr>
          <a:xfrm>
            <a:off x="4373880" y="4059936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Scattered PDFs → one structured incident ledger</a:t>
            </a:r>
            <a:endParaRPr lang="en-IN" sz="950" dirty="0"/>
          </a:p>
        </p:txBody>
      </p:sp>
      <p:sp>
        <p:nvSpPr>
          <p:cNvPr id="15382" name="FD_B_d2"/>
          <p:cNvSpPr/>
          <p:nvPr/>
        </p:nvSpPr>
        <p:spPr>
          <a:xfrm>
            <a:off x="4373880" y="4338828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Nearest well ≠ best offset → ranked by similarity</a:t>
            </a:r>
            <a:endParaRPr lang="en-IN" sz="950" dirty="0"/>
          </a:p>
        </p:txBody>
      </p:sp>
      <p:sp>
        <p:nvSpPr>
          <p:cNvPr id="15383" name="FD_B_d3"/>
          <p:cNvSpPr/>
          <p:nvPr/>
        </p:nvSpPr>
        <p:spPr>
          <a:xfrm>
            <a:off x="4373880" y="4617720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Wells at different depths → lined up by formation</a:t>
            </a:r>
            <a:endParaRPr lang="en-IN" sz="950" dirty="0"/>
          </a:p>
        </p:txBody>
      </p:sp>
      <p:sp>
        <p:nvSpPr>
          <p:cNvPr id="15384" name="FD_B_d4"/>
          <p:cNvSpPr/>
          <p:nvPr/>
        </p:nvSpPr>
        <p:spPr>
          <a:xfrm>
            <a:off x="4373880" y="4896612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Alerts after the event → warning before the bit arrives</a:t>
            </a:r>
            <a:endParaRPr lang="en-IN" sz="950" dirty="0"/>
          </a:p>
        </p:txBody>
      </p:sp>
      <p:sp>
        <p:nvSpPr>
          <p:cNvPr id="15385" name="FD_B_d5"/>
          <p:cNvSpPr/>
          <p:nvPr/>
        </p:nvSpPr>
        <p:spPr>
          <a:xfrm>
            <a:off x="4373880" y="5175504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Hours of manual search → a cited answer in plain words</a:t>
            </a:r>
            <a:endParaRPr lang="en-IN" sz="950" dirty="0"/>
          </a:p>
        </p:txBody>
      </p:sp>
      <p:sp>
        <p:nvSpPr>
          <p:cNvPr id="15386" name="FD_C_txt"/>
          <p:cNvSpPr txBox="1"/>
          <p:nvPr/>
        </p:nvSpPr>
        <p:spPr>
          <a:xfrm>
            <a:off x="8400288" y="3438144"/>
            <a:ext cx="3496056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It looks ahead of the bit, not at it —</a:t>
            </a:r>
            <a:endParaRPr lang="en-IN" sz="11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and shows the report page</a:t>
            </a:r>
            <a:endParaRPr lang="en-IN" sz="11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behind every warning.</a:t>
            </a:r>
            <a:endParaRPr lang="en-IN" sz="1150" dirty="0"/>
          </a:p>
        </p:txBody>
      </p:sp>
      <p:sp>
        <p:nvSpPr>
          <p:cNvPr id="15387" name="FD_C_d1"/>
          <p:cNvSpPr/>
          <p:nvPr/>
        </p:nvSpPr>
        <p:spPr>
          <a:xfrm>
            <a:off x="8382000" y="4059936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Risk per depth, ahead of the bit: we found no prior method</a:t>
            </a:r>
            <a:endParaRPr lang="en-IN" sz="950" dirty="0"/>
          </a:p>
        </p:txBody>
      </p:sp>
      <p:sp>
        <p:nvSpPr>
          <p:cNvPr id="15388" name="FD_C_d2"/>
          <p:cNvSpPr/>
          <p:nvPr/>
        </p:nvSpPr>
        <p:spPr>
          <a:xfrm>
            <a:off x="8382000" y="4338828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Formation depths corrected for dip and its direction</a:t>
            </a:r>
            <a:endParaRPr lang="en-IN" sz="950" dirty="0"/>
          </a:p>
        </p:txBody>
      </p:sp>
      <p:sp>
        <p:nvSpPr>
          <p:cNvPr id="15389" name="FD_C_d3"/>
          <p:cNvSpPr/>
          <p:nvPr/>
        </p:nvSpPr>
        <p:spPr>
          <a:xfrm>
            <a:off x="8382000" y="4617720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 missing clue is shown as n/a, never filled with zero</a:t>
            </a:r>
            <a:endParaRPr lang="en-IN" sz="950" dirty="0"/>
          </a:p>
        </p:txBody>
      </p:sp>
      <p:sp>
        <p:nvSpPr>
          <p:cNvPr id="15390" name="FD_C_d4"/>
          <p:cNvSpPr/>
          <p:nvPr/>
        </p:nvSpPr>
        <p:spPr>
          <a:xfrm>
            <a:off x="8382000" y="4896612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Alarm-fatigue control: dedupe, cooldown, hard cap</a:t>
            </a:r>
            <a:endParaRPr lang="en-IN" sz="950" dirty="0"/>
          </a:p>
        </p:txBody>
      </p:sp>
      <p:sp>
        <p:nvSpPr>
          <p:cNvPr id="15391" name="FD_C_d5"/>
          <p:cNvSpPr/>
          <p:nvPr/>
        </p:nvSpPr>
        <p:spPr>
          <a:xfrm>
            <a:off x="8382000" y="5175504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Local AI model, offline: reports never leave Oil India</a:t>
            </a:r>
            <a:endParaRPr lang="en-IN" sz="950" dirty="0"/>
          </a:p>
        </p:txBody>
      </p:sp>
      <p:sp>
        <p:nvSpPr>
          <p:cNvPr id="15392" name="FD_K1"/>
          <p:cNvSpPr/>
          <p:nvPr/>
        </p:nvSpPr>
        <p:spPr>
          <a:xfrm>
            <a:off x="384048" y="5843016"/>
            <a:ext cx="3776472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5B3FA0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Live dashboard:</a:t>
            </a:r>
            <a:endParaRPr lang="en-IN" sz="10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https://  ________________</a:t>
            </a:r>
            <a:endParaRPr lang="en-IN" sz="1050" dirty="0"/>
          </a:p>
        </p:txBody>
      </p:sp>
      <p:sp>
        <p:nvSpPr>
          <p:cNvPr id="15393" name="FD_K2"/>
          <p:cNvSpPr/>
          <p:nvPr/>
        </p:nvSpPr>
        <p:spPr>
          <a:xfrm>
            <a:off x="4251960" y="5843016"/>
            <a:ext cx="3776472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5B3FA0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Demo video:</a:t>
            </a:r>
            <a:endParaRPr lang="en-IN" sz="10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https://  ________________</a:t>
            </a:r>
            <a:endParaRPr lang="en-IN" sz="1050" dirty="0"/>
          </a:p>
        </p:txBody>
      </p:sp>
      <p:sp>
        <p:nvSpPr>
          <p:cNvPr id="15394" name="FD_K3"/>
          <p:cNvSpPr/>
          <p:nvPr/>
        </p:nvSpPr>
        <p:spPr>
          <a:xfrm>
            <a:off x="8119872" y="5843016"/>
            <a:ext cx="3776472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5B3FA0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GitHub repository:</a:t>
            </a:r>
            <a:endParaRPr lang="en-IN" sz="10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https://  ________________</a:t>
            </a:r>
            <a:endParaRPr lang="en-IN" sz="1050" dirty="0"/>
          </a:p>
        </p:txBody>
      </p:sp>
      <p:pic>
        <p:nvPicPr>
          <p:cNvPr id="15395" name="FD_A_icon" descr="icon: page stack + _search lens (composed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9468" y="2734056"/>
            <a:ext cx="585216" cy="585216"/>
          </a:xfrm>
          <a:prstGeom prst="rect">
            <a:avLst/>
          </a:prstGeom>
        </p:spPr>
      </p:pic>
      <p:pic>
        <p:nvPicPr>
          <p:cNvPr id="15396" name="FD_B_icon" descr="icon: ic_team.svg centre figure + hard hat (compose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7588" y="2734056"/>
            <a:ext cx="585216" cy="585216"/>
          </a:xfrm>
          <a:prstGeom prst="rect">
            <a:avLst/>
          </a:prstGeom>
        </p:spPr>
      </p:pic>
      <p:pic>
        <p:nvPicPr>
          <p:cNvPr id="15397" name="FD_C_icon" descr="icon: ic_drill-bit.svg rotated + look-ahead dashes (composed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5708" y="2734056"/>
            <a:ext cx="585216" cy="585216"/>
          </a:xfrm>
          <a:prstGeom prst="rect">
            <a:avLst/>
          </a:prstGeom>
        </p:spPr>
      </p:pic>
      <p:pic>
        <p:nvPicPr>
          <p:cNvPr id="15398" name="FD_K1_icon" descr="icon: ic_dashboard.sv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879592"/>
            <a:ext cx="329184" cy="329184"/>
          </a:xfrm>
          <a:prstGeom prst="rect">
            <a:avLst/>
          </a:prstGeom>
        </p:spPr>
      </p:pic>
      <p:pic>
        <p:nvPicPr>
          <p:cNvPr id="15399" name="FD_K2_icon" descr="icon: ic_sensor.sv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5112" y="5879592"/>
            <a:ext cx="329184" cy="329184"/>
          </a:xfrm>
          <a:prstGeom prst="rect">
            <a:avLst/>
          </a:prstGeom>
        </p:spPr>
      </p:pic>
      <p:pic>
        <p:nvPicPr>
          <p:cNvPr id="15400" name="FD_K3_icon" descr="icon: ic_ai-chip.sv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3024" y="5879592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133856"/>
            <a:ext cx="11247120" cy="768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201168" indent="-201168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Technologies to be used: Python · FastAPI · Ollama qwen2.5 · RapidOCR · XGBoost + SHAP · SQLite/PostGIS · React + Leaflet</a:t>
            </a:r>
          </a:p>
          <a:p>
            <a:pPr marL="201168" indent="-201168"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Methodology and process for implementation: WCR/DDR PDFs → OCR + local-LLM extraction (cited, confidence-scored) → incident ledger + review queue → similarity map → formation correlation → risk-ahead-of-bit fusion → alerts on the eRTMAC feed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F_S1"/>
          <p:cNvSpPr/>
          <p:nvPr/>
        </p:nvSpPr>
        <p:spPr>
          <a:xfrm>
            <a:off x="292608" y="2011680"/>
            <a:ext cx="2017166" cy="2720340"/>
          </a:xfrm>
          <a:prstGeom prst="roundRect">
            <a:avLst>
              <a:gd name="adj" fmla="val 5439"/>
            </a:avLst>
          </a:prstGeom>
          <a:solidFill>
            <a:srgbClr val="F6F8FC"/>
          </a:solidFill>
          <a:ln w="19050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2" name="TF_S1_hdr"/>
          <p:cNvSpPr/>
          <p:nvPr/>
        </p:nvSpPr>
        <p:spPr>
          <a:xfrm>
            <a:off x="292608" y="2011680"/>
            <a:ext cx="2017166" cy="347472"/>
          </a:xfrm>
          <a:prstGeom prst="round2SameRect">
            <a:avLst>
              <a:gd name="adj1" fmla="val 31578"/>
              <a:gd name="adj2" fmla="val 0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· Ingest</a:t>
            </a:r>
            <a:endParaRPr lang="en-IN" sz="1500" dirty="0"/>
          </a:p>
        </p:txBody>
      </p:sp>
      <p:sp>
        <p:nvSpPr>
          <p:cNvPr id="17413" name="TF_S2"/>
          <p:cNvSpPr/>
          <p:nvPr/>
        </p:nvSpPr>
        <p:spPr>
          <a:xfrm>
            <a:off x="2712110" y="2011680"/>
            <a:ext cx="2017166" cy="2720340"/>
          </a:xfrm>
          <a:prstGeom prst="roundRect">
            <a:avLst>
              <a:gd name="adj" fmla="val 5439"/>
            </a:avLst>
          </a:prstGeom>
          <a:solidFill>
            <a:srgbClr val="FEF8F3"/>
          </a:solidFill>
          <a:ln w="19050">
            <a:solidFill>
              <a:srgbClr val="C55A11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4" name="TF_S2_hdr"/>
          <p:cNvSpPr/>
          <p:nvPr/>
        </p:nvSpPr>
        <p:spPr>
          <a:xfrm>
            <a:off x="2712110" y="2011680"/>
            <a:ext cx="2017166" cy="347472"/>
          </a:xfrm>
          <a:prstGeom prst="round2SameRect">
            <a:avLst>
              <a:gd name="adj1" fmla="val 31578"/>
              <a:gd name="adj2" fmla="val 0"/>
            </a:avLst>
          </a:prstGeom>
          <a:solidFill>
            <a:srgbClr val="C55A11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· Map &amp; similarity</a:t>
            </a:r>
            <a:endParaRPr lang="en-IN" sz="1500" dirty="0"/>
          </a:p>
        </p:txBody>
      </p:sp>
      <p:sp>
        <p:nvSpPr>
          <p:cNvPr id="17415" name="TF_S3"/>
          <p:cNvSpPr/>
          <p:nvPr/>
        </p:nvSpPr>
        <p:spPr>
          <a:xfrm>
            <a:off x="5131613" y="2011680"/>
            <a:ext cx="2017166" cy="2720340"/>
          </a:xfrm>
          <a:prstGeom prst="roundRect">
            <a:avLst>
              <a:gd name="adj" fmla="val 5439"/>
            </a:avLst>
          </a:prstGeom>
          <a:solidFill>
            <a:srgbClr val="F6FBF6"/>
          </a:solidFill>
          <a:ln w="19050">
            <a:solidFill>
              <a:srgbClr val="2E7D32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6" name="TF_S3_hdr"/>
          <p:cNvSpPr/>
          <p:nvPr/>
        </p:nvSpPr>
        <p:spPr>
          <a:xfrm>
            <a:off x="5131613" y="2011680"/>
            <a:ext cx="2017166" cy="347472"/>
          </a:xfrm>
          <a:prstGeom prst="round2SameRect">
            <a:avLst>
              <a:gd name="adj1" fmla="val 31578"/>
              <a:gd name="adj2" fmla="val 0"/>
            </a:avLst>
          </a:prstGeom>
          <a:solidFill>
            <a:srgbClr val="2E7D32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· Correlate</a:t>
            </a:r>
            <a:endParaRPr lang="en-IN" sz="1500" dirty="0"/>
          </a:p>
        </p:txBody>
      </p:sp>
      <p:sp>
        <p:nvSpPr>
          <p:cNvPr id="17417" name="TF_S4"/>
          <p:cNvSpPr/>
          <p:nvPr/>
        </p:nvSpPr>
        <p:spPr>
          <a:xfrm>
            <a:off x="7551115" y="2011680"/>
            <a:ext cx="2017166" cy="2720340"/>
          </a:xfrm>
          <a:prstGeom prst="roundRect">
            <a:avLst>
              <a:gd name="adj" fmla="val 5439"/>
            </a:avLst>
          </a:prstGeom>
          <a:solidFill>
            <a:srgbClr val="F9F7FD"/>
          </a:solidFill>
          <a:ln w="19050">
            <a:solidFill>
              <a:srgbClr val="5B3FA0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8" name="TF_S4_hdr"/>
          <p:cNvSpPr/>
          <p:nvPr/>
        </p:nvSpPr>
        <p:spPr>
          <a:xfrm>
            <a:off x="7551115" y="2011680"/>
            <a:ext cx="2017166" cy="347472"/>
          </a:xfrm>
          <a:prstGeom prst="round2SameRect">
            <a:avLst>
              <a:gd name="adj1" fmla="val 31578"/>
              <a:gd name="adj2" fmla="val 0"/>
            </a:avLst>
          </a:prstGeom>
          <a:solidFill>
            <a:srgbClr val="5B3FA0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· Risk ahead of bit</a:t>
            </a:r>
            <a:endParaRPr lang="en-IN" sz="1500" dirty="0"/>
          </a:p>
        </p:txBody>
      </p:sp>
      <p:sp>
        <p:nvSpPr>
          <p:cNvPr id="17419" name="TF_S5"/>
          <p:cNvSpPr/>
          <p:nvPr/>
        </p:nvSpPr>
        <p:spPr>
          <a:xfrm>
            <a:off x="9970618" y="2011680"/>
            <a:ext cx="2017166" cy="2720340"/>
          </a:xfrm>
          <a:prstGeom prst="roundRect">
            <a:avLst>
              <a:gd name="adj" fmla="val 5439"/>
            </a:avLst>
          </a:prstGeom>
          <a:solidFill>
            <a:srgbClr val="F6F8FC"/>
          </a:solidFill>
          <a:ln w="19050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20" name="TF_S5_hdr"/>
          <p:cNvSpPr/>
          <p:nvPr/>
        </p:nvSpPr>
        <p:spPr>
          <a:xfrm>
            <a:off x="9970618" y="2011680"/>
            <a:ext cx="2017166" cy="347472"/>
          </a:xfrm>
          <a:prstGeom prst="round2SameRect">
            <a:avLst>
              <a:gd name="adj1" fmla="val 31578"/>
              <a:gd name="adj2" fmla="val 0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 · Alert &amp; advise</a:t>
            </a:r>
            <a:endParaRPr lang="en-IN" sz="1500" dirty="0"/>
          </a:p>
        </p:txBody>
      </p:sp>
      <p:sp>
        <p:nvSpPr>
          <p:cNvPr id="17421" name="TF_G"/>
          <p:cNvSpPr/>
          <p:nvPr/>
        </p:nvSpPr>
        <p:spPr>
          <a:xfrm>
            <a:off x="292608" y="5216652"/>
            <a:ext cx="6620256" cy="804672"/>
          </a:xfrm>
          <a:prstGeom prst="roundRect">
            <a:avLst>
              <a:gd name="adj" fmla="val 11363"/>
            </a:avLst>
          </a:prstGeom>
          <a:solidFill>
            <a:srgbClr val="F6F8FC"/>
          </a:solidFill>
          <a:ln w="15875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22" name="TF_G_hdr"/>
          <p:cNvSpPr/>
          <p:nvPr/>
        </p:nvSpPr>
        <p:spPr>
          <a:xfrm>
            <a:off x="292608" y="5216652"/>
            <a:ext cx="6620256" cy="246888"/>
          </a:xfrm>
          <a:prstGeom prst="round2SameRect">
            <a:avLst>
              <a:gd name="adj1" fmla="val 37037"/>
              <a:gd name="adj2" fmla="val 0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109728" tIns="0" rIns="54864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the engineer gets</a:t>
            </a:r>
            <a:endParaRPr lang="en-IN" sz="1200" dirty="0"/>
          </a:p>
        </p:txBody>
      </p:sp>
      <p:sp>
        <p:nvSpPr>
          <p:cNvPr id="17423" name="TF_L"/>
          <p:cNvSpPr/>
          <p:nvPr/>
        </p:nvSpPr>
        <p:spPr>
          <a:xfrm>
            <a:off x="7278624" y="5216652"/>
            <a:ext cx="4709160" cy="804672"/>
          </a:xfrm>
          <a:prstGeom prst="roundRect">
            <a:avLst>
              <a:gd name="adj" fmla="val 11363"/>
            </a:avLst>
          </a:prstGeom>
          <a:solidFill>
            <a:srgbClr val="F6FBF6"/>
          </a:solidFill>
          <a:ln w="15875">
            <a:solidFill>
              <a:srgbClr val="2E7D32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24" name="TF_L_hdr"/>
          <p:cNvSpPr/>
          <p:nvPr/>
        </p:nvSpPr>
        <p:spPr>
          <a:xfrm>
            <a:off x="7278624" y="5216652"/>
            <a:ext cx="4709160" cy="246888"/>
          </a:xfrm>
          <a:prstGeom prst="round2SameRect">
            <a:avLst>
              <a:gd name="adj1" fmla="val 37037"/>
              <a:gd name="adj2" fmla="val 0"/>
            </a:avLst>
          </a:prstGeom>
          <a:solidFill>
            <a:srgbClr val="2E7D32"/>
          </a:solidFill>
          <a:ln>
            <a:noFill/>
          </a:ln>
        </p:spPr>
        <p:txBody>
          <a:bodyPr rtlCol="0" anchor="ctr" wrap="square" lIns="109728" tIns="0" rIns="54864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it leads to</a:t>
            </a:r>
            <a:endParaRPr lang="en-IN" sz="1200" dirty="0"/>
          </a:p>
        </p:txBody>
      </p:sp>
      <p:sp>
        <p:nvSpPr>
          <p:cNvPr id="17425" name="TF_S1_disc"/>
          <p:cNvSpPr/>
          <p:nvPr/>
        </p:nvSpPr>
        <p:spPr>
          <a:xfrm>
            <a:off x="871423" y="2414016"/>
            <a:ext cx="859536" cy="8595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97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6" name="TF_S2_disc"/>
          <p:cNvSpPr/>
          <p:nvPr/>
        </p:nvSpPr>
        <p:spPr>
          <a:xfrm>
            <a:off x="3290926" y="2414016"/>
            <a:ext cx="859536" cy="8595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5A1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7" name="TF_S3_disc"/>
          <p:cNvSpPr/>
          <p:nvPr/>
        </p:nvSpPr>
        <p:spPr>
          <a:xfrm>
            <a:off x="5710428" y="2414016"/>
            <a:ext cx="859536" cy="8595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8" name="TF_S4_disc"/>
          <p:cNvSpPr/>
          <p:nvPr/>
        </p:nvSpPr>
        <p:spPr>
          <a:xfrm>
            <a:off x="8129930" y="2414016"/>
            <a:ext cx="859536" cy="8595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3F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9" name="TF_S5_disc"/>
          <p:cNvSpPr/>
          <p:nvPr/>
        </p:nvSpPr>
        <p:spPr>
          <a:xfrm>
            <a:off x="10549433" y="2414016"/>
            <a:ext cx="859536" cy="8595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97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430" name="TF_arrow00_S1_S2"/>
          <p:cNvCxnSpPr/>
          <p:nvPr/>
        </p:nvCxnSpPr>
        <p:spPr>
          <a:xfrm>
            <a:off x="2355494" y="2843784"/>
            <a:ext cx="310896" cy="0"/>
          </a:xfrm>
          <a:prstGeom prst="line">
            <a:avLst/>
          </a:prstGeom>
          <a:ln w="50800">
            <a:solidFill>
              <a:srgbClr val="595959"/>
            </a:solidFill>
            <a:round/>
            <a:tailEnd type="triangle" w="med" len="med"/>
          </a:ln>
        </p:spPr>
      </p:cxnSp>
      <p:cxnSp>
        <p:nvCxnSpPr>
          <p:cNvPr id="17431" name="TF_arrow01_S2_S3"/>
          <p:cNvCxnSpPr/>
          <p:nvPr/>
        </p:nvCxnSpPr>
        <p:spPr>
          <a:xfrm>
            <a:off x="4774997" y="2843784"/>
            <a:ext cx="310896" cy="0"/>
          </a:xfrm>
          <a:prstGeom prst="line">
            <a:avLst/>
          </a:prstGeom>
          <a:ln w="50800">
            <a:solidFill>
              <a:srgbClr val="595959"/>
            </a:solidFill>
            <a:round/>
            <a:tailEnd type="triangle" w="med" len="med"/>
          </a:ln>
        </p:spPr>
      </p:cxnSp>
      <p:cxnSp>
        <p:nvCxnSpPr>
          <p:cNvPr id="17432" name="TF_arrow02_S3_S4"/>
          <p:cNvCxnSpPr/>
          <p:nvPr/>
        </p:nvCxnSpPr>
        <p:spPr>
          <a:xfrm>
            <a:off x="7194499" y="2843784"/>
            <a:ext cx="310896" cy="0"/>
          </a:xfrm>
          <a:prstGeom prst="line">
            <a:avLst/>
          </a:prstGeom>
          <a:ln w="50800">
            <a:solidFill>
              <a:srgbClr val="595959"/>
            </a:solidFill>
            <a:round/>
            <a:tailEnd type="triangle" w="med" len="med"/>
          </a:ln>
        </p:spPr>
      </p:cxnSp>
      <p:cxnSp>
        <p:nvCxnSpPr>
          <p:cNvPr id="17433" name="TF_arrow03_S4_S5"/>
          <p:cNvCxnSpPr/>
          <p:nvPr/>
        </p:nvCxnSpPr>
        <p:spPr>
          <a:xfrm>
            <a:off x="9614002" y="2843784"/>
            <a:ext cx="310896" cy="0"/>
          </a:xfrm>
          <a:prstGeom prst="line">
            <a:avLst/>
          </a:prstGeom>
          <a:ln w="50800">
            <a:solidFill>
              <a:srgbClr val="595959"/>
            </a:solidFill>
            <a:round/>
            <a:tailEnd type="triangle" w="med" len="med"/>
          </a:ln>
        </p:spPr>
      </p:cxnSp>
      <p:sp>
        <p:nvSpPr>
          <p:cNvPr id="2" name="TF_loop04_S5_S1"/>
          <p:cNvSpPr/>
          <p:nvPr/>
        </p:nvSpPr>
        <p:spPr>
          <a:xfrm>
            <a:off x="1301191" y="4732020"/>
            <a:ext cx="9678010" cy="182880"/>
          </a:xfrm>
          <a:custGeom>
            <a:avLst/>
            <a:gdLst/>
            <a:ahLst/>
            <a:cxnLst/>
            <a:rect l="l" t="t" r="r" b="b"/>
            <a:pathLst>
              <a:path w="9678010" h="182880">
                <a:moveTo>
                  <a:pt x="9678010" y="0"/>
                </a:moveTo>
                <a:lnTo>
                  <a:pt x="9678010" y="182880"/>
                </a:lnTo>
                <a:lnTo>
                  <a:pt x="0" y="18288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404040"/>
            </a:solidFill>
            <a:prstDash val="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434" name="TF_arrow05_G_L"/>
          <p:cNvCxnSpPr/>
          <p:nvPr/>
        </p:nvCxnSpPr>
        <p:spPr>
          <a:xfrm>
            <a:off x="6958584" y="5737860"/>
            <a:ext cx="274320" cy="0"/>
          </a:xfrm>
          <a:prstGeom prst="line">
            <a:avLst/>
          </a:prstGeom>
          <a:ln w="50800">
            <a:solidFill>
              <a:srgbClr val="595959"/>
            </a:solidFill>
            <a:round/>
            <a:tailEnd type="triangle" w="med" len="med"/>
          </a:ln>
        </p:spPr>
      </p:cxnSp>
      <p:sp>
        <p:nvSpPr>
          <p:cNvPr id="17435" name="TF_S1_txt"/>
          <p:cNvSpPr txBox="1"/>
          <p:nvPr/>
        </p:nvSpPr>
        <p:spPr>
          <a:xfrm>
            <a:off x="365760" y="3319272"/>
            <a:ext cx="1870862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Old scanned reports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become incident rows,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each citing its page.</a:t>
            </a:r>
            <a:endParaRPr lang="en-IN" sz="1200" dirty="0"/>
          </a:p>
        </p:txBody>
      </p:sp>
      <p:sp>
        <p:nvSpPr>
          <p:cNvPr id="17436" name="TF_S1_d1"/>
          <p:cNvSpPr/>
          <p:nvPr/>
        </p:nvSpPr>
        <p:spPr>
          <a:xfrm>
            <a:off x="356616" y="3931920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236 reports, 30 % are scans</a:t>
            </a:r>
            <a:endParaRPr lang="en-IN" sz="950" dirty="0"/>
          </a:p>
        </p:txBody>
      </p:sp>
      <p:sp>
        <p:nvSpPr>
          <p:cNvPr id="17437" name="TF_S1_d2"/>
          <p:cNvSpPr/>
          <p:nvPr/>
        </p:nvSpPr>
        <p:spPr>
          <a:xfrm>
            <a:off x="356616" y="4192524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Text (OCR) → incidents (LLM)</a:t>
            </a:r>
            <a:endParaRPr lang="en-IN" sz="950" dirty="0"/>
          </a:p>
        </p:txBody>
      </p:sp>
      <p:sp>
        <p:nvSpPr>
          <p:cNvPr id="17438" name="TF_S1_d3"/>
          <p:cNvSpPr/>
          <p:nvPr/>
        </p:nvSpPr>
        <p:spPr>
          <a:xfrm>
            <a:off x="356616" y="4453128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 0.91 · R 0.95 (synthetic)</a:t>
            </a:r>
            <a:endParaRPr lang="en-IN" sz="950" dirty="0"/>
          </a:p>
        </p:txBody>
      </p:sp>
      <p:sp>
        <p:nvSpPr>
          <p:cNvPr id="17439" name="TF_S2_txt"/>
          <p:cNvSpPr txBox="1"/>
          <p:nvPr/>
        </p:nvSpPr>
        <p:spPr>
          <a:xfrm>
            <a:off x="2785262" y="3319272"/>
            <a:ext cx="1870862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Nearby wells on a map,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ranked by likeness,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not just distance.</a:t>
            </a:r>
            <a:endParaRPr lang="en-IN" sz="1200" dirty="0"/>
          </a:p>
        </p:txBody>
      </p:sp>
      <p:sp>
        <p:nvSpPr>
          <p:cNvPr id="17440" name="TF_S2_d1"/>
          <p:cNvSpPr/>
          <p:nvPr/>
        </p:nvSpPr>
        <p:spPr>
          <a:xfrm>
            <a:off x="2776118" y="3931920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Distance, formations, well path</a:t>
            </a:r>
            <a:endParaRPr lang="en-IN" sz="950" dirty="0"/>
          </a:p>
        </p:txBody>
      </p:sp>
      <p:sp>
        <p:nvSpPr>
          <p:cNvPr id="17441" name="TF_S2_d2"/>
          <p:cNvSpPr/>
          <p:nvPr/>
        </p:nvSpPr>
        <p:spPr>
          <a:xfrm>
            <a:off x="2776118" y="4192524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Target depth, drilling difficulty</a:t>
            </a:r>
            <a:endParaRPr lang="en-IN" sz="950" dirty="0"/>
          </a:p>
        </p:txBody>
      </p:sp>
      <p:sp>
        <p:nvSpPr>
          <p:cNvPr id="17442" name="TF_S2_d3"/>
          <p:cNvSpPr/>
          <p:nvPr/>
        </p:nvSpPr>
        <p:spPr>
          <a:xfrm>
            <a:off x="2776118" y="4453128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Missing clue shown n/a, not 0</a:t>
            </a:r>
            <a:endParaRPr lang="en-IN" sz="950" dirty="0"/>
          </a:p>
        </p:txBody>
      </p:sp>
      <p:sp>
        <p:nvSpPr>
          <p:cNvPr id="17443" name="TF_S3_txt"/>
          <p:cNvSpPr txBox="1"/>
          <p:nvPr/>
        </p:nvSpPr>
        <p:spPr>
          <a:xfrm>
            <a:off x="5204765" y="3319272"/>
            <a:ext cx="1870862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Wells lined up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on the same rock layer,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its tilt corrected.</a:t>
            </a:r>
            <a:endParaRPr lang="en-IN" sz="1200" dirty="0"/>
          </a:p>
        </p:txBody>
      </p:sp>
      <p:sp>
        <p:nvSpPr>
          <p:cNvPr id="17444" name="TF_S3_d1"/>
          <p:cNvSpPr/>
          <p:nvPr/>
        </p:nvSpPr>
        <p:spPr>
          <a:xfrm>
            <a:off x="5195621" y="3931920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Aligned on formation top (TVD)</a:t>
            </a:r>
            <a:endParaRPr lang="en-IN" sz="950" dirty="0"/>
          </a:p>
        </p:txBody>
      </p:sp>
      <p:sp>
        <p:nvSpPr>
          <p:cNvPr id="17445" name="TF_S3_d2"/>
          <p:cNvSpPr/>
          <p:nvPr/>
        </p:nvSpPr>
        <p:spPr>
          <a:xfrm>
            <a:off x="5195621" y="4192524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Dip + azimuth plane fit</a:t>
            </a:r>
            <a:endParaRPr lang="en-IN" sz="950" dirty="0"/>
          </a:p>
        </p:txBody>
      </p:sp>
      <p:sp>
        <p:nvSpPr>
          <p:cNvPr id="17446" name="TF_S3_d3"/>
          <p:cNvSpPr/>
          <p:nvPr/>
        </p:nvSpPr>
        <p:spPr>
          <a:xfrm>
            <a:off x="5195621" y="4453128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Girujan, Tipam, Barail zones</a:t>
            </a:r>
            <a:endParaRPr lang="en-IN" sz="950" dirty="0"/>
          </a:p>
        </p:txBody>
      </p:sp>
      <p:sp>
        <p:nvSpPr>
          <p:cNvPr id="17447" name="TF_S4_txt"/>
          <p:cNvSpPr txBox="1"/>
          <p:nvPr/>
        </p:nvSpPr>
        <p:spPr>
          <a:xfrm>
            <a:off x="7624267" y="3319272"/>
            <a:ext cx="1870862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Scores the next 200 m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 50 m steps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and says why.</a:t>
            </a:r>
            <a:endParaRPr lang="en-IN" sz="1200" dirty="0"/>
          </a:p>
        </p:txBody>
      </p:sp>
      <p:sp>
        <p:nvSpPr>
          <p:cNvPr id="17448" name="TF_S4_d1"/>
          <p:cNvSpPr/>
          <p:nvPr/>
        </p:nvSpPr>
        <p:spPr>
          <a:xfrm>
            <a:off x="7615123" y="3931920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EEAF7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Precedent + anomaly + model</a:t>
            </a:r>
            <a:endParaRPr lang="en-IN" sz="950" dirty="0"/>
          </a:p>
        </p:txBody>
      </p:sp>
      <p:sp>
        <p:nvSpPr>
          <p:cNvPr id="17449" name="TF_S4_d2"/>
          <p:cNvSpPr/>
          <p:nvPr/>
        </p:nvSpPr>
        <p:spPr>
          <a:xfrm>
            <a:off x="7615123" y="4192524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EEAF7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Unseen wells (AUC 0.86–0.94)</a:t>
            </a:r>
            <a:endParaRPr lang="en-IN" sz="950" dirty="0"/>
          </a:p>
        </p:txBody>
      </p:sp>
      <p:sp>
        <p:nvSpPr>
          <p:cNvPr id="17450" name="TF_S4_d3"/>
          <p:cNvSpPr/>
          <p:nvPr/>
        </p:nvSpPr>
        <p:spPr>
          <a:xfrm>
            <a:off x="7615123" y="4453128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EEAF7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Top 3 reasons shown (SHAP)</a:t>
            </a:r>
            <a:endParaRPr lang="en-IN" sz="950" dirty="0"/>
          </a:p>
        </p:txBody>
      </p:sp>
      <p:sp>
        <p:nvSpPr>
          <p:cNvPr id="17451" name="TF_S5_txt"/>
          <p:cNvSpPr txBox="1"/>
          <p:nvPr/>
        </p:nvSpPr>
        <p:spPr>
          <a:xfrm>
            <a:off x="10043770" y="3319272"/>
            <a:ext cx="1870862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Warns before the bit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arrives, with what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nearby wells did.</a:t>
            </a:r>
            <a:endParaRPr lang="en-IN" sz="1200" dirty="0"/>
          </a:p>
        </p:txBody>
      </p:sp>
      <p:sp>
        <p:nvSpPr>
          <p:cNvPr id="17452" name="TF_S5_d1"/>
          <p:cNvSpPr/>
          <p:nvPr/>
        </p:nvSpPr>
        <p:spPr>
          <a:xfrm>
            <a:off x="10034626" y="3931920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First advisory in 2 s (replay)</a:t>
            </a:r>
            <a:endParaRPr lang="en-IN" sz="950" dirty="0"/>
          </a:p>
        </p:txBody>
      </p:sp>
      <p:sp>
        <p:nvSpPr>
          <p:cNvPr id="17453" name="TF_S5_d2"/>
          <p:cNvSpPr/>
          <p:nvPr/>
        </p:nvSpPr>
        <p:spPr>
          <a:xfrm>
            <a:off x="10034626" y="4192524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Cited two-line advice (~18 s)</a:t>
            </a:r>
            <a:endParaRPr lang="en-IN" sz="950" dirty="0"/>
          </a:p>
        </p:txBody>
      </p:sp>
      <p:sp>
        <p:nvSpPr>
          <p:cNvPr id="17454" name="TF_S5_d3"/>
          <p:cNvSpPr/>
          <p:nvPr/>
        </p:nvSpPr>
        <p:spPr>
          <a:xfrm>
            <a:off x="10034626" y="4453128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No alarm floods (ISA-18.2)</a:t>
            </a:r>
            <a:endParaRPr lang="en-IN" sz="950" dirty="0"/>
          </a:p>
        </p:txBody>
      </p:sp>
      <p:sp>
        <p:nvSpPr>
          <p:cNvPr id="17455" name="TF_loop_txt"/>
          <p:cNvSpPr txBox="1"/>
          <p:nvPr/>
        </p:nvSpPr>
        <p:spPr>
          <a:xfrm>
            <a:off x="4402836" y="4960620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Engineer approvals come back → the models re-learn</a:t>
            </a:r>
            <a:endParaRPr lang="en-IN" sz="1100" dirty="0"/>
          </a:p>
        </p:txBody>
      </p:sp>
      <p:sp>
        <p:nvSpPr>
          <p:cNvPr id="17456" name="TF_G1"/>
          <p:cNvSpPr/>
          <p:nvPr/>
        </p:nvSpPr>
        <p:spPr>
          <a:xfrm>
            <a:off x="384048" y="550926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97D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Ranked offset wells</a:t>
            </a:r>
            <a:endParaRPr lang="en-IN" sz="11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on one map</a:t>
            </a:r>
            <a:endParaRPr lang="en-IN" sz="1100" dirty="0"/>
          </a:p>
        </p:txBody>
      </p:sp>
      <p:sp>
        <p:nvSpPr>
          <p:cNvPr id="17457" name="TF_G2"/>
          <p:cNvSpPr/>
          <p:nvPr/>
        </p:nvSpPr>
        <p:spPr>
          <a:xfrm>
            <a:off x="2560320" y="550926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97D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Risk for the next</a:t>
            </a:r>
            <a:endParaRPr lang="en-IN" sz="11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200 m, with reasons</a:t>
            </a:r>
            <a:endParaRPr lang="en-IN" sz="1100" dirty="0"/>
          </a:p>
        </p:txBody>
      </p:sp>
      <p:sp>
        <p:nvSpPr>
          <p:cNvPr id="17458" name="TF_G3"/>
          <p:cNvSpPr/>
          <p:nvPr/>
        </p:nvSpPr>
        <p:spPr>
          <a:xfrm>
            <a:off x="4736592" y="550926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97D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What offsets did,</a:t>
            </a:r>
            <a:endParaRPr lang="en-IN" sz="11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with the page</a:t>
            </a:r>
            <a:endParaRPr lang="en-IN" sz="1100" dirty="0"/>
          </a:p>
        </p:txBody>
      </p:sp>
      <p:sp>
        <p:nvSpPr>
          <p:cNvPr id="17459" name="TF_L1"/>
          <p:cNvSpPr/>
          <p:nvPr/>
        </p:nvSpPr>
        <p:spPr>
          <a:xfrm>
            <a:off x="7370064" y="5509260"/>
            <a:ext cx="1447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E7D32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Less lost</a:t>
            </a:r>
            <a:endParaRPr lang="en-IN" sz="11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rig time</a:t>
            </a:r>
            <a:endParaRPr lang="en-IN" sz="1100" dirty="0"/>
          </a:p>
        </p:txBody>
      </p:sp>
      <p:sp>
        <p:nvSpPr>
          <p:cNvPr id="17460" name="TF_L2"/>
          <p:cNvSpPr/>
          <p:nvPr/>
        </p:nvSpPr>
        <p:spPr>
          <a:xfrm>
            <a:off x="8909304" y="5509260"/>
            <a:ext cx="1447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E7D32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Fewer kicks</a:t>
            </a:r>
            <a:endParaRPr lang="en-IN" sz="11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and losses</a:t>
            </a:r>
            <a:endParaRPr lang="en-IN" sz="1100" dirty="0"/>
          </a:p>
        </p:txBody>
      </p:sp>
      <p:sp>
        <p:nvSpPr>
          <p:cNvPr id="17461" name="TF_L3"/>
          <p:cNvSpPr/>
          <p:nvPr/>
        </p:nvSpPr>
        <p:spPr>
          <a:xfrm>
            <a:off x="10448544" y="5509260"/>
            <a:ext cx="1447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E7D32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Skills stay</a:t>
            </a:r>
            <a:endParaRPr lang="en-IN" sz="11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 Oil India</a:t>
            </a:r>
            <a:endParaRPr lang="en-IN" sz="1100" dirty="0"/>
          </a:p>
        </p:txBody>
      </p:sp>
      <p:sp>
        <p:nvSpPr>
          <p:cNvPr id="17462" name="TF_trust"/>
          <p:cNvSpPr txBox="1"/>
          <p:nvPr/>
        </p:nvSpPr>
        <p:spPr>
          <a:xfrm>
            <a:off x="5404104" y="6076188"/>
            <a:ext cx="6583680" cy="201168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i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Numbers from a synthetic Upper Assam field (30 wells) · checked on real North Sea reports · offline</a:t>
            </a:r>
            <a:endParaRPr lang="en-IN" sz="1100" dirty="0"/>
          </a:p>
        </p:txBody>
      </p:sp>
      <p:pic>
        <p:nvPicPr>
          <p:cNvPr id="17463" name="TF_S1_icon" descr="icon: page + scan beam (composed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75" y="2487168"/>
            <a:ext cx="713232" cy="713232"/>
          </a:xfrm>
          <a:prstGeom prst="rect">
            <a:avLst/>
          </a:prstGeom>
        </p:spPr>
      </p:pic>
      <p:pic>
        <p:nvPicPr>
          <p:cNvPr id="17464" name="TF_S2_icon" descr="icon: map pin + radius rings (compose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078" y="2487168"/>
            <a:ext cx="713232" cy="713232"/>
          </a:xfrm>
          <a:prstGeom prst="rect">
            <a:avLst/>
          </a:prstGeom>
        </p:spPr>
      </p:pic>
      <p:pic>
        <p:nvPicPr>
          <p:cNvPr id="17465" name="TF_S3_icon" descr="icon: two wells through dipping layers, tied (composed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3580" y="2487168"/>
            <a:ext cx="713232" cy="713232"/>
          </a:xfrm>
          <a:prstGeom prst="rect">
            <a:avLst/>
          </a:prstGeom>
        </p:spPr>
      </p:pic>
      <p:pic>
        <p:nvPicPr>
          <p:cNvPr id="17466" name="TF_S4_icon" descr="icon: ic_drill-bit.svg rotated + look-ahead dashes (composed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3082" y="2487168"/>
            <a:ext cx="713232" cy="713232"/>
          </a:xfrm>
          <a:prstGeom prst="rect">
            <a:avLst/>
          </a:prstGeom>
        </p:spPr>
      </p:pic>
      <p:pic>
        <p:nvPicPr>
          <p:cNvPr id="17467" name="TF_S5_icon" descr="icon: ic_team.svg centre figure + hard hat (composed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2585" y="2487168"/>
            <a:ext cx="713232" cy="713232"/>
          </a:xfrm>
          <a:prstGeom prst="rect">
            <a:avLst/>
          </a:prstGeom>
        </p:spPr>
      </p:pic>
      <p:pic>
        <p:nvPicPr>
          <p:cNvPr id="17468" name="TF_loop_icon" descr="icon: ic_calendar-cycle.sv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91940" y="4942332"/>
            <a:ext cx="256032" cy="256032"/>
          </a:xfrm>
          <a:prstGeom prst="rect">
            <a:avLst/>
          </a:prstGeom>
        </p:spPr>
      </p:pic>
      <p:pic>
        <p:nvPicPr>
          <p:cNvPr id="17469" name="TF_G1_icon" descr="icon: map pin + radius rings (composed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5573268"/>
            <a:ext cx="329184" cy="329184"/>
          </a:xfrm>
          <a:prstGeom prst="rect">
            <a:avLst/>
          </a:prstGeom>
        </p:spPr>
      </p:pic>
      <p:pic>
        <p:nvPicPr>
          <p:cNvPr id="17470" name="TF_G2_icon" descr="icon: ic_alert-triangle.sv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33472" y="5573268"/>
            <a:ext cx="329184" cy="329184"/>
          </a:xfrm>
          <a:prstGeom prst="rect">
            <a:avLst/>
          </a:prstGeom>
        </p:spPr>
      </p:pic>
      <p:pic>
        <p:nvPicPr>
          <p:cNvPr id="17471" name="TF_G3_icon" descr="icon: page stack + _search lens (composed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9744" y="5573268"/>
            <a:ext cx="329184" cy="329184"/>
          </a:xfrm>
          <a:prstGeom prst="rect">
            <a:avLst/>
          </a:prstGeom>
        </p:spPr>
      </p:pic>
      <p:pic>
        <p:nvPicPr>
          <p:cNvPr id="17472" name="TF_L1_icon" descr="icon: ic_graph-down.sv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43216" y="5573268"/>
            <a:ext cx="329184" cy="329184"/>
          </a:xfrm>
          <a:prstGeom prst="rect">
            <a:avLst/>
          </a:prstGeom>
        </p:spPr>
      </p:pic>
      <p:pic>
        <p:nvPicPr>
          <p:cNvPr id="17473" name="TF_L2_icon" descr="icon: ic_shield-check.sv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82456" y="5573268"/>
            <a:ext cx="329184" cy="329184"/>
          </a:xfrm>
          <a:prstGeom prst="rect">
            <a:avLst/>
          </a:prstGeom>
        </p:spPr>
      </p:pic>
      <p:pic>
        <p:nvPicPr>
          <p:cNvPr id="17474" name="TF_L3_icon" descr="icon: ic_team.sv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21696" y="5573268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170432"/>
            <a:ext cx="11247120" cy="43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en-IN" sz="13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Feasibility and viability — a working prototype, its honest gaps, and how each gap closes once Oil India's own reports flow in.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FD_A"/>
          <p:cNvSpPr/>
          <p:nvPr/>
        </p:nvSpPr>
        <p:spPr>
          <a:xfrm>
            <a:off x="292608" y="1755648"/>
            <a:ext cx="3678936" cy="3346704"/>
          </a:xfrm>
          <a:prstGeom prst="roundRect">
            <a:avLst>
              <a:gd name="adj" fmla="val 3278"/>
            </a:avLst>
          </a:prstGeom>
          <a:solidFill>
            <a:srgbClr val="F6FBF6"/>
          </a:solidFill>
          <a:ln w="19050">
            <a:solidFill>
              <a:srgbClr val="2E7D32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2" name="FD_A_hdr"/>
          <p:cNvSpPr/>
          <p:nvPr/>
        </p:nvSpPr>
        <p:spPr>
          <a:xfrm>
            <a:off x="292608" y="1755648"/>
            <a:ext cx="3678936" cy="530352"/>
          </a:xfrm>
          <a:prstGeom prst="round2SameRect">
            <a:avLst>
              <a:gd name="adj1" fmla="val 20689"/>
              <a:gd name="adj2" fmla="val 0"/>
            </a:avLst>
          </a:prstGeom>
          <a:solidFill>
            <a:srgbClr val="2E7D32"/>
          </a:solidFill>
          <a:ln>
            <a:noFill/>
          </a:ln>
        </p:spPr>
        <p:txBody>
          <a:bodyPr rtlCol="0" anchor="ctr" wrap="square" lIns="73152" tIns="0" rIns="73152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Analysis of the feasibility of the idea</a:t>
            </a:r>
            <a:endParaRPr lang="en-IN" sz="1300" dirty="0"/>
          </a:p>
        </p:txBody>
      </p:sp>
      <p:sp>
        <p:nvSpPr>
          <p:cNvPr id="17413" name="FD_B"/>
          <p:cNvSpPr/>
          <p:nvPr/>
        </p:nvSpPr>
        <p:spPr>
          <a:xfrm>
            <a:off x="4300728" y="1755648"/>
            <a:ext cx="3678936" cy="3346704"/>
          </a:xfrm>
          <a:prstGeom prst="roundRect">
            <a:avLst>
              <a:gd name="adj" fmla="val 3278"/>
            </a:avLst>
          </a:prstGeom>
          <a:solidFill>
            <a:srgbClr val="FEF8F3"/>
          </a:solidFill>
          <a:ln w="19050">
            <a:solidFill>
              <a:srgbClr val="C55A11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4" name="FD_B_hdr"/>
          <p:cNvSpPr/>
          <p:nvPr/>
        </p:nvSpPr>
        <p:spPr>
          <a:xfrm>
            <a:off x="4300728" y="1755648"/>
            <a:ext cx="3678936" cy="530352"/>
          </a:xfrm>
          <a:prstGeom prst="round2SameRect">
            <a:avLst>
              <a:gd name="adj1" fmla="val 20689"/>
              <a:gd name="adj2" fmla="val 0"/>
            </a:avLst>
          </a:prstGeom>
          <a:solidFill>
            <a:srgbClr val="C55A11"/>
          </a:solidFill>
          <a:ln>
            <a:noFill/>
          </a:ln>
        </p:spPr>
        <p:txBody>
          <a:bodyPr rtlCol="0" anchor="ctr" wrap="square" lIns="73152" tIns="0" rIns="73152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Potential challenges and risks</a:t>
            </a:r>
            <a:endParaRPr lang="en-IN" sz="1300" dirty="0"/>
          </a:p>
        </p:txBody>
      </p:sp>
      <p:sp>
        <p:nvSpPr>
          <p:cNvPr id="17415" name="FD_C"/>
          <p:cNvSpPr/>
          <p:nvPr/>
        </p:nvSpPr>
        <p:spPr>
          <a:xfrm>
            <a:off x="8308848" y="1755648"/>
            <a:ext cx="3678936" cy="3346704"/>
          </a:xfrm>
          <a:prstGeom prst="roundRect">
            <a:avLst>
              <a:gd name="adj" fmla="val 3278"/>
            </a:avLst>
          </a:prstGeom>
          <a:solidFill>
            <a:srgbClr val="F6F8FC"/>
          </a:solidFill>
          <a:ln w="19050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6" name="FD_C_hdr"/>
          <p:cNvSpPr/>
          <p:nvPr/>
        </p:nvSpPr>
        <p:spPr>
          <a:xfrm>
            <a:off x="8308848" y="1755648"/>
            <a:ext cx="3678936" cy="530352"/>
          </a:xfrm>
          <a:prstGeom prst="round2SameRect">
            <a:avLst>
              <a:gd name="adj1" fmla="val 20689"/>
              <a:gd name="adj2" fmla="val 0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73152" tIns="0" rIns="73152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Strategies for overcoming these challenges</a:t>
            </a:r>
            <a:endParaRPr lang="en-IN" sz="1300" dirty="0"/>
          </a:p>
        </p:txBody>
      </p:sp>
      <p:sp>
        <p:nvSpPr>
          <p:cNvPr id="17417" name="FD_T"/>
          <p:cNvSpPr/>
          <p:nvPr/>
        </p:nvSpPr>
        <p:spPr>
          <a:xfrm>
            <a:off x="292608" y="5212080"/>
            <a:ext cx="11695176" cy="777240"/>
          </a:xfrm>
          <a:prstGeom prst="roundRect">
            <a:avLst>
              <a:gd name="adj" fmla="val 11764"/>
            </a:avLst>
          </a:prstGeom>
          <a:solidFill>
            <a:srgbClr val="F9F7FD"/>
          </a:solidFill>
          <a:ln w="15875">
            <a:solidFill>
              <a:srgbClr val="5B3FA0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8" name="FD_T_hdr"/>
          <p:cNvSpPr/>
          <p:nvPr/>
        </p:nvSpPr>
        <p:spPr>
          <a:xfrm>
            <a:off x="292608" y="5212080"/>
            <a:ext cx="11695176" cy="246888"/>
          </a:xfrm>
          <a:prstGeom prst="round2SameRect">
            <a:avLst>
              <a:gd name="adj1" fmla="val 37037"/>
              <a:gd name="adj2" fmla="val 0"/>
            </a:avLst>
          </a:prstGeom>
          <a:solidFill>
            <a:srgbClr val="5B3FA0"/>
          </a:solidFill>
          <a:ln>
            <a:noFill/>
          </a:ln>
        </p:spPr>
        <p:txBody>
          <a:bodyPr rtlCol="0" anchor="ctr" wrap="square" lIns="109728" tIns="0" rIns="54864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Roadmap</a:t>
            </a:r>
            <a:endParaRPr lang="en-IN" sz="1200" dirty="0"/>
          </a:p>
        </p:txBody>
      </p:sp>
      <p:sp>
        <p:nvSpPr>
          <p:cNvPr id="17419" name="FD_A_disc"/>
          <p:cNvSpPr/>
          <p:nvPr/>
        </p:nvSpPr>
        <p:spPr>
          <a:xfrm>
            <a:off x="1766316" y="2350008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0" name="FD_B_disc"/>
          <p:cNvSpPr/>
          <p:nvPr/>
        </p:nvSpPr>
        <p:spPr>
          <a:xfrm>
            <a:off x="5774436" y="2350008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5A1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1" name="FD_C_disc"/>
          <p:cNvSpPr/>
          <p:nvPr/>
        </p:nvSpPr>
        <p:spPr>
          <a:xfrm>
            <a:off x="9782556" y="2350008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97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2" name="FD_A_txt"/>
          <p:cNvSpPr txBox="1"/>
          <p:nvPr/>
        </p:nvSpPr>
        <p:spPr>
          <a:xfrm>
            <a:off x="384048" y="3127248"/>
            <a:ext cx="3496056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Built and running today —</a:t>
            </a:r>
            <a:endParaRPr lang="en-IN" sz="11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end to end, offline,</a:t>
            </a:r>
            <a:endParaRPr lang="en-IN" sz="11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on one laptop.</a:t>
            </a:r>
            <a:endParaRPr lang="en-IN" sz="1150" dirty="0"/>
          </a:p>
        </p:txBody>
      </p:sp>
      <p:sp>
        <p:nvSpPr>
          <p:cNvPr id="17423" name="FD_A_d1"/>
          <p:cNvSpPr/>
          <p:nvPr/>
        </p:nvSpPr>
        <p:spPr>
          <a:xfrm>
            <a:off x="365760" y="3749040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All seven asks in the problem statement demoed</a:t>
            </a:r>
            <a:endParaRPr lang="en-IN" sz="950" dirty="0"/>
          </a:p>
        </p:txBody>
      </p:sp>
      <p:sp>
        <p:nvSpPr>
          <p:cNvPr id="17424" name="FD_A_d2"/>
          <p:cNvSpPr/>
          <p:nvPr/>
        </p:nvSpPr>
        <p:spPr>
          <a:xfrm>
            <a:off x="365760" y="4027932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Rock column from Oil India's own paper (SPG 2013)</a:t>
            </a:r>
            <a:endParaRPr lang="en-IN" sz="950" dirty="0"/>
          </a:p>
        </p:txBody>
      </p:sp>
      <p:sp>
        <p:nvSpPr>
          <p:cNvPr id="17425" name="FD_A_d3"/>
          <p:cNvSpPr/>
          <p:nvPr/>
        </p:nvSpPr>
        <p:spPr>
          <a:xfrm>
            <a:off x="365760" y="4306824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Real-report check on Equinor's open Volve data</a:t>
            </a:r>
            <a:endParaRPr lang="en-IN" sz="950" dirty="0"/>
          </a:p>
        </p:txBody>
      </p:sp>
      <p:sp>
        <p:nvSpPr>
          <p:cNvPr id="17426" name="FD_A_d4"/>
          <p:cNvSpPr/>
          <p:nvPr/>
        </p:nvSpPr>
        <p:spPr>
          <a:xfrm>
            <a:off x="365760" y="4585716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Open-source stack · no cloud, no licence cost</a:t>
            </a:r>
            <a:endParaRPr lang="en-IN" sz="950" dirty="0"/>
          </a:p>
        </p:txBody>
      </p:sp>
      <p:sp>
        <p:nvSpPr>
          <p:cNvPr id="17427" name="FD_B_txt"/>
          <p:cNvSpPr txBox="1"/>
          <p:nvPr/>
        </p:nvSpPr>
        <p:spPr>
          <a:xfrm>
            <a:off x="4392168" y="3127248"/>
            <a:ext cx="3496056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Old paper, shifting formats</a:t>
            </a:r>
            <a:endParaRPr lang="en-IN" sz="11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and no live feed yet —</a:t>
            </a:r>
            <a:endParaRPr lang="en-IN" sz="11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real risks.</a:t>
            </a:r>
            <a:endParaRPr lang="en-IN" sz="1150" dirty="0"/>
          </a:p>
        </p:txBody>
      </p:sp>
      <p:sp>
        <p:nvSpPr>
          <p:cNvPr id="17428" name="FD_B_d1"/>
          <p:cNvSpPr/>
          <p:nvPr/>
        </p:nvSpPr>
        <p:spPr>
          <a:xfrm>
            <a:off x="4373880" y="3749040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Faded scans and stamps defeat text reading (OCR)</a:t>
            </a:r>
            <a:endParaRPr lang="en-IN" sz="950" dirty="0"/>
          </a:p>
        </p:txBody>
      </p:sp>
      <p:sp>
        <p:nvSpPr>
          <p:cNvPr id="17429" name="FD_B_d2"/>
          <p:cNvSpPr/>
          <p:nvPr/>
        </p:nvSpPr>
        <p:spPr>
          <a:xfrm>
            <a:off x="4373880" y="4027932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Report formats drift across decades and fields</a:t>
            </a:r>
            <a:endParaRPr lang="en-IN" sz="950" dirty="0"/>
          </a:p>
        </p:txBody>
      </p:sp>
      <p:sp>
        <p:nvSpPr>
          <p:cNvPr id="17430" name="FD_B_d3"/>
          <p:cNvSpPr/>
          <p:nvPr/>
        </p:nvSpPr>
        <p:spPr>
          <a:xfrm>
            <a:off x="4373880" y="4306824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Terse rig shorthand is missed on real reports</a:t>
            </a:r>
            <a:endParaRPr lang="en-IN" sz="950" dirty="0"/>
          </a:p>
        </p:txBody>
      </p:sp>
      <p:sp>
        <p:nvSpPr>
          <p:cNvPr id="17431" name="FD_B_d4"/>
          <p:cNvSpPr/>
          <p:nvPr/>
        </p:nvSpPr>
        <p:spPr>
          <a:xfrm>
            <a:off x="4373880" y="4585716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No eRTMAC access yet; new areas lack offsets</a:t>
            </a:r>
            <a:endParaRPr lang="en-IN" sz="950" dirty="0"/>
          </a:p>
        </p:txBody>
      </p:sp>
      <p:sp>
        <p:nvSpPr>
          <p:cNvPr id="17432" name="FD_C_txt"/>
          <p:cNvSpPr txBox="1"/>
          <p:nvPr/>
        </p:nvSpPr>
        <p:spPr>
          <a:xfrm>
            <a:off x="8400288" y="3127248"/>
            <a:ext cx="3496056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Every weak spot has a fallback</a:t>
            </a:r>
            <a:endParaRPr lang="en-IN" sz="11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and an engineer</a:t>
            </a:r>
            <a:endParaRPr lang="en-IN" sz="11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 the loop.</a:t>
            </a:r>
            <a:endParaRPr lang="en-IN" sz="1150" dirty="0"/>
          </a:p>
        </p:txBody>
      </p:sp>
      <p:sp>
        <p:nvSpPr>
          <p:cNvPr id="17433" name="FD_C_d1"/>
          <p:cNvSpPr/>
          <p:nvPr/>
        </p:nvSpPr>
        <p:spPr>
          <a:xfrm>
            <a:off x="8382000" y="3749040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Confidence score → doubtful rows go to review</a:t>
            </a:r>
            <a:endParaRPr lang="en-IN" sz="950" dirty="0"/>
          </a:p>
        </p:txBody>
      </p:sp>
      <p:sp>
        <p:nvSpPr>
          <p:cNvPr id="17434" name="FD_C_d2"/>
          <p:cNvSpPr/>
          <p:nvPr/>
        </p:nvSpPr>
        <p:spPr>
          <a:xfrm>
            <a:off x="8382000" y="4027932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Per-template reading profiles, not one parser</a:t>
            </a:r>
            <a:endParaRPr lang="en-IN" sz="950" dirty="0"/>
          </a:p>
        </p:txBody>
      </p:sp>
      <p:sp>
        <p:nvSpPr>
          <p:cNvPr id="17435" name="FD_C_d3"/>
          <p:cNvSpPr/>
          <p:nvPr/>
        </p:nvSpPr>
        <p:spPr>
          <a:xfrm>
            <a:off x="8382000" y="4306824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Approvals retrain it: ~60 labelled report-days (DrillScribe)</a:t>
            </a:r>
            <a:endParaRPr lang="en-IN" sz="950" dirty="0"/>
          </a:p>
        </p:txBody>
      </p:sp>
      <p:sp>
        <p:nvSpPr>
          <p:cNvPr id="17436" name="FD_C_d4"/>
          <p:cNvSpPr/>
          <p:nvPr/>
        </p:nvSpPr>
        <p:spPr>
          <a:xfrm>
            <a:off x="8382000" y="4585716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Feed adapter ready (WITSML); basin priors at cold start</a:t>
            </a:r>
            <a:endParaRPr lang="en-IN" sz="950" dirty="0"/>
          </a:p>
        </p:txBody>
      </p:sp>
      <p:sp>
        <p:nvSpPr>
          <p:cNvPr id="17437" name="FD_T1"/>
          <p:cNvSpPr/>
          <p:nvPr/>
        </p:nvSpPr>
        <p:spPr>
          <a:xfrm>
            <a:off x="384048" y="5513832"/>
            <a:ext cx="280949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5B3FA0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Now: working prototype,</a:t>
            </a:r>
            <a:endParaRPr lang="en-IN" sz="10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office + rig views</a:t>
            </a:r>
            <a:endParaRPr lang="en-IN" sz="1050" dirty="0"/>
          </a:p>
        </p:txBody>
      </p:sp>
      <p:sp>
        <p:nvSpPr>
          <p:cNvPr id="17438" name="FD_T2"/>
          <p:cNvSpPr/>
          <p:nvPr/>
        </p:nvSpPr>
        <p:spPr>
          <a:xfrm>
            <a:off x="3284982" y="5513832"/>
            <a:ext cx="280949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5B3FA0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Next: sample Oil India</a:t>
            </a:r>
            <a:endParaRPr lang="en-IN" sz="10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reports → re-tune</a:t>
            </a:r>
            <a:endParaRPr lang="en-IN" sz="1050" dirty="0"/>
          </a:p>
        </p:txBody>
      </p:sp>
      <p:sp>
        <p:nvSpPr>
          <p:cNvPr id="17439" name="FD_T3"/>
          <p:cNvSpPr/>
          <p:nvPr/>
        </p:nvSpPr>
        <p:spPr>
          <a:xfrm>
            <a:off x="6185916" y="5513832"/>
            <a:ext cx="280949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5B3FA0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Finale: 36-hour build,</a:t>
            </a:r>
            <a:endParaRPr lang="en-IN" sz="10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live office + rig demo</a:t>
            </a:r>
            <a:endParaRPr lang="en-IN" sz="1050" dirty="0"/>
          </a:p>
        </p:txBody>
      </p:sp>
      <p:sp>
        <p:nvSpPr>
          <p:cNvPr id="17440" name="FD_T4"/>
          <p:cNvSpPr/>
          <p:nvPr/>
        </p:nvSpPr>
        <p:spPr>
          <a:xfrm>
            <a:off x="9086850" y="5513832"/>
            <a:ext cx="280949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5B3FA0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Pilot: one Duliajan</a:t>
            </a:r>
            <a:endParaRPr lang="en-IN" sz="10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rig, advisory mode</a:t>
            </a:r>
            <a:endParaRPr lang="en-IN" sz="1050" dirty="0"/>
          </a:p>
        </p:txBody>
      </p:sp>
      <p:sp>
        <p:nvSpPr>
          <p:cNvPr id="17441" name="FD_n"/>
          <p:cNvSpPr txBox="1"/>
          <p:nvPr/>
        </p:nvSpPr>
        <p:spPr>
          <a:xfrm>
            <a:off x="292608" y="6025896"/>
            <a:ext cx="11695176" cy="201168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 i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Team: Chemical Engineering + Software, MNIT Jaipur · open-source, on-premise, slots into Project DRIVE 2.0 beside eRTMAC</a:t>
            </a:r>
            <a:endParaRPr lang="en-IN" sz="1050" dirty="0"/>
          </a:p>
        </p:txBody>
      </p:sp>
      <p:pic>
        <p:nvPicPr>
          <p:cNvPr id="17442" name="FD_A_icon" descr="icon: ic_shield-check.sv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9468" y="2423160"/>
            <a:ext cx="585216" cy="585216"/>
          </a:xfrm>
          <a:prstGeom prst="rect">
            <a:avLst/>
          </a:prstGeom>
        </p:spPr>
      </p:pic>
      <p:pic>
        <p:nvPicPr>
          <p:cNvPr id="17443" name="FD_B_icon" descr="icon: ic_alert-triangle.sv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7588" y="2423160"/>
            <a:ext cx="585216" cy="585216"/>
          </a:xfrm>
          <a:prstGeom prst="rect">
            <a:avLst/>
          </a:prstGeom>
        </p:spPr>
      </p:pic>
      <p:pic>
        <p:nvPicPr>
          <p:cNvPr id="17444" name="FD_C_icon" descr="icon: ic_calendar-cycle.sv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5708" y="2423160"/>
            <a:ext cx="585216" cy="585216"/>
          </a:xfrm>
          <a:prstGeom prst="rect">
            <a:avLst/>
          </a:prstGeom>
        </p:spPr>
      </p:pic>
      <p:pic>
        <p:nvPicPr>
          <p:cNvPr id="17445" name="FD_T1_icon" descr="icon: ic_graph-up.sv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559552"/>
            <a:ext cx="329184" cy="329184"/>
          </a:xfrm>
          <a:prstGeom prst="rect">
            <a:avLst/>
          </a:prstGeom>
        </p:spPr>
      </p:pic>
      <p:pic>
        <p:nvPicPr>
          <p:cNvPr id="17446" name="FD_T2_icon" descr="icon: page stack + _search lens (composed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8134" y="5559552"/>
            <a:ext cx="329184" cy="329184"/>
          </a:xfrm>
          <a:prstGeom prst="rect">
            <a:avLst/>
          </a:prstGeom>
        </p:spPr>
      </p:pic>
      <p:pic>
        <p:nvPicPr>
          <p:cNvPr id="17447" name="FD_T3_icon" descr="icon: ic_shield-check.sv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9068" y="5559552"/>
            <a:ext cx="329184" cy="329184"/>
          </a:xfrm>
          <a:prstGeom prst="rect">
            <a:avLst/>
          </a:prstGeom>
        </p:spPr>
      </p:pic>
      <p:pic>
        <p:nvPicPr>
          <p:cNvPr id="17448" name="FD_T4_icon" descr="icon: ic_well.sv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60002" y="5559552"/>
            <a:ext cx="329184" cy="32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170432"/>
            <a:ext cx="11247120" cy="43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en-IN" sz="13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Impact and benefits — what changes for Oil India's drilling engineers, and what we honestly do and do not claim yet.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FD_A"/>
          <p:cNvSpPr/>
          <p:nvPr/>
        </p:nvSpPr>
        <p:spPr>
          <a:xfrm>
            <a:off x="292608" y="1755648"/>
            <a:ext cx="3703320" cy="3346704"/>
          </a:xfrm>
          <a:prstGeom prst="roundRect">
            <a:avLst>
              <a:gd name="adj" fmla="val 3278"/>
            </a:avLst>
          </a:prstGeom>
          <a:solidFill>
            <a:srgbClr val="F6F8FC"/>
          </a:solidFill>
          <a:ln w="19050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2" name="FD_A_hdr"/>
          <p:cNvSpPr/>
          <p:nvPr/>
        </p:nvSpPr>
        <p:spPr>
          <a:xfrm>
            <a:off x="292608" y="1755648"/>
            <a:ext cx="3703320" cy="530352"/>
          </a:xfrm>
          <a:prstGeom prst="round2SameRect">
            <a:avLst>
              <a:gd name="adj1" fmla="val 20689"/>
              <a:gd name="adj2" fmla="val 0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73152" tIns="0" rIns="73152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Potential impact on the target audience</a:t>
            </a:r>
            <a:endParaRPr lang="en-IN" sz="1300" dirty="0"/>
          </a:p>
        </p:txBody>
      </p:sp>
      <p:sp>
        <p:nvSpPr>
          <p:cNvPr id="17413" name="FD_B"/>
          <p:cNvSpPr/>
          <p:nvPr/>
        </p:nvSpPr>
        <p:spPr>
          <a:xfrm>
            <a:off x="4325112" y="1755648"/>
            <a:ext cx="7662672" cy="3346704"/>
          </a:xfrm>
          <a:prstGeom prst="roundRect">
            <a:avLst>
              <a:gd name="adj" fmla="val 3278"/>
            </a:avLst>
          </a:prstGeom>
          <a:solidFill>
            <a:srgbClr val="F6FBF6"/>
          </a:solidFill>
          <a:ln w="19050">
            <a:solidFill>
              <a:srgbClr val="2E7D32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4" name="FD_B_hdr"/>
          <p:cNvSpPr/>
          <p:nvPr/>
        </p:nvSpPr>
        <p:spPr>
          <a:xfrm>
            <a:off x="4325112" y="1755648"/>
            <a:ext cx="7662672" cy="530352"/>
          </a:xfrm>
          <a:prstGeom prst="round2SameRect">
            <a:avLst>
              <a:gd name="adj1" fmla="val 20689"/>
              <a:gd name="adj2" fmla="val 0"/>
            </a:avLst>
          </a:prstGeom>
          <a:solidFill>
            <a:srgbClr val="2E7D32"/>
          </a:solidFill>
          <a:ln>
            <a:noFill/>
          </a:ln>
        </p:spPr>
        <p:txBody>
          <a:bodyPr rtlCol="0" anchor="ctr" wrap="square" lIns="73152" tIns="0" rIns="73152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Benefits of the solution (social, economic, environmental, etc.)</a:t>
            </a:r>
            <a:endParaRPr lang="en-IN" sz="1300" dirty="0"/>
          </a:p>
        </p:txBody>
      </p:sp>
      <p:sp>
        <p:nvSpPr>
          <p:cNvPr id="17415" name="FD_M0"/>
          <p:cNvSpPr/>
          <p:nvPr/>
        </p:nvSpPr>
        <p:spPr>
          <a:xfrm>
            <a:off x="4416552" y="2377440"/>
            <a:ext cx="2420112" cy="2633472"/>
          </a:xfrm>
          <a:prstGeom prst="roundRect">
            <a:avLst>
              <a:gd name="adj" fmla="val 3778"/>
            </a:avLst>
          </a:prstGeom>
          <a:solidFill>
            <a:srgbClr val="FFFFFF"/>
          </a:solidFill>
          <a:ln w="12700">
            <a:solidFill>
              <a:srgbClr val="2E7D32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6" name="FD_M1"/>
          <p:cNvSpPr/>
          <p:nvPr/>
        </p:nvSpPr>
        <p:spPr>
          <a:xfrm>
            <a:off x="6946392" y="2377440"/>
            <a:ext cx="2420112" cy="2633472"/>
          </a:xfrm>
          <a:prstGeom prst="roundRect">
            <a:avLst>
              <a:gd name="adj" fmla="val 3778"/>
            </a:avLst>
          </a:prstGeom>
          <a:solidFill>
            <a:srgbClr val="FFFFFF"/>
          </a:solidFill>
          <a:ln w="12700">
            <a:solidFill>
              <a:srgbClr val="C55A11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7" name="FD_M2"/>
          <p:cNvSpPr/>
          <p:nvPr/>
        </p:nvSpPr>
        <p:spPr>
          <a:xfrm>
            <a:off x="9476232" y="2377440"/>
            <a:ext cx="2420112" cy="2633472"/>
          </a:xfrm>
          <a:prstGeom prst="roundRect">
            <a:avLst>
              <a:gd name="adj" fmla="val 3778"/>
            </a:avLst>
          </a:prstGeom>
          <a:solidFill>
            <a:srgbClr val="FFFFFF"/>
          </a:solidFill>
          <a:ln w="12700">
            <a:solidFill>
              <a:srgbClr val="5B3FA0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8" name="FD_H"/>
          <p:cNvSpPr/>
          <p:nvPr/>
        </p:nvSpPr>
        <p:spPr>
          <a:xfrm>
            <a:off x="292608" y="5212080"/>
            <a:ext cx="11695176" cy="740664"/>
          </a:xfrm>
          <a:prstGeom prst="roundRect">
            <a:avLst>
              <a:gd name="adj" fmla="val 12345"/>
            </a:avLst>
          </a:prstGeom>
          <a:solidFill>
            <a:srgbClr val="FAFAFA"/>
          </a:solidFill>
          <a:ln w="15875">
            <a:solidFill>
              <a:srgbClr val="595959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9" name="FD_H_hdr"/>
          <p:cNvSpPr/>
          <p:nvPr/>
        </p:nvSpPr>
        <p:spPr>
          <a:xfrm>
            <a:off x="292608" y="5212080"/>
            <a:ext cx="11695176" cy="246888"/>
          </a:xfrm>
          <a:prstGeom prst="round2SameRect">
            <a:avLst>
              <a:gd name="adj1" fmla="val 37037"/>
              <a:gd name="adj2" fmla="val 0"/>
            </a:avLst>
          </a:prstGeom>
          <a:solidFill>
            <a:srgbClr val="595959"/>
          </a:solidFill>
          <a:ln>
            <a:noFill/>
          </a:ln>
        </p:spPr>
        <p:txBody>
          <a:bodyPr rtlCol="0" anchor="ctr" wrap="square" lIns="109728" tIns="0" rIns="54864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we do not claim</a:t>
            </a:r>
            <a:endParaRPr lang="en-IN" sz="1200" dirty="0"/>
          </a:p>
        </p:txBody>
      </p:sp>
      <p:sp>
        <p:nvSpPr>
          <p:cNvPr id="17420" name="FD_A_disc"/>
          <p:cNvSpPr/>
          <p:nvPr/>
        </p:nvSpPr>
        <p:spPr>
          <a:xfrm>
            <a:off x="1778508" y="2350008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97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1" name="FD_M0_disc"/>
          <p:cNvSpPr/>
          <p:nvPr/>
        </p:nvSpPr>
        <p:spPr>
          <a:xfrm>
            <a:off x="5260848" y="2505456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2" name="FD_M1_disc"/>
          <p:cNvSpPr/>
          <p:nvPr/>
        </p:nvSpPr>
        <p:spPr>
          <a:xfrm>
            <a:off x="7790688" y="2505456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5A1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3" name="FD_M2_disc"/>
          <p:cNvSpPr/>
          <p:nvPr/>
        </p:nvSpPr>
        <p:spPr>
          <a:xfrm>
            <a:off x="10320528" y="2505456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3F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4" name="FD_A_txt"/>
          <p:cNvSpPr txBox="1"/>
          <p:nvPr/>
        </p:nvSpPr>
        <p:spPr>
          <a:xfrm>
            <a:off x="384048" y="3127248"/>
            <a:ext cx="3520440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Oil India plans 200+ wells</a:t>
            </a:r>
            <a:endParaRPr lang="en-IN" sz="11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 three years — every one</a:t>
            </a:r>
            <a:endParaRPr lang="en-IN" sz="11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drilled beside old ones.</a:t>
            </a:r>
            <a:endParaRPr lang="en-IN" sz="1150" dirty="0"/>
          </a:p>
        </p:txBody>
      </p:sp>
      <p:sp>
        <p:nvSpPr>
          <p:cNvPr id="17425" name="FD_A_d1"/>
          <p:cNvSpPr/>
          <p:nvPr/>
        </p:nvSpPr>
        <p:spPr>
          <a:xfrm>
            <a:off x="365760" y="3749040"/>
            <a:ext cx="3557016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Offset study: days of reading → minutes</a:t>
            </a:r>
            <a:endParaRPr lang="en-IN" sz="950" dirty="0"/>
          </a:p>
        </p:txBody>
      </p:sp>
      <p:sp>
        <p:nvSpPr>
          <p:cNvPr id="17426" name="FD_A_d2"/>
          <p:cNvSpPr/>
          <p:nvPr/>
        </p:nvSpPr>
        <p:spPr>
          <a:xfrm>
            <a:off x="365760" y="4027932"/>
            <a:ext cx="3557016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Cited answer in under a minute (measured)</a:t>
            </a:r>
            <a:endParaRPr lang="en-IN" sz="950" dirty="0"/>
          </a:p>
        </p:txBody>
      </p:sp>
      <p:sp>
        <p:nvSpPr>
          <p:cNvPr id="17427" name="FD_A_d3"/>
          <p:cNvSpPr/>
          <p:nvPr/>
        </p:nvSpPr>
        <p:spPr>
          <a:xfrm>
            <a:off x="365760" y="4306824"/>
            <a:ext cx="3557016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Warning before the bit reaches a flagged zone</a:t>
            </a:r>
            <a:endParaRPr lang="en-IN" sz="950" dirty="0"/>
          </a:p>
        </p:txBody>
      </p:sp>
      <p:sp>
        <p:nvSpPr>
          <p:cNvPr id="17428" name="FD_A_d4"/>
          <p:cNvSpPr/>
          <p:nvPr/>
        </p:nvSpPr>
        <p:spPr>
          <a:xfrm>
            <a:off x="365760" y="4585716"/>
            <a:ext cx="3557016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Rig view built for a thin satellite link</a:t>
            </a:r>
            <a:endParaRPr lang="en-IN" sz="950" dirty="0"/>
          </a:p>
        </p:txBody>
      </p:sp>
      <p:sp>
        <p:nvSpPr>
          <p:cNvPr id="17429" name="FD_A_d5"/>
          <p:cNvSpPr/>
          <p:nvPr/>
        </p:nvSpPr>
        <p:spPr>
          <a:xfrm>
            <a:off x="365760" y="4864608"/>
            <a:ext cx="3557016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One version of the truth for office and rig</a:t>
            </a:r>
            <a:endParaRPr lang="en-IN" sz="950" dirty="0"/>
          </a:p>
        </p:txBody>
      </p:sp>
      <p:sp>
        <p:nvSpPr>
          <p:cNvPr id="17430" name="FD_M0_t"/>
          <p:cNvSpPr txBox="1"/>
          <p:nvPr/>
        </p:nvSpPr>
        <p:spPr>
          <a:xfrm>
            <a:off x="4471416" y="3310128"/>
            <a:ext cx="2310384" cy="21945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Economic</a:t>
            </a:r>
            <a:endParaRPr lang="en-IN" sz="1250" dirty="0"/>
          </a:p>
        </p:txBody>
      </p:sp>
      <p:sp>
        <p:nvSpPr>
          <p:cNvPr id="17431" name="FD_M0_s"/>
          <p:cNvSpPr txBox="1"/>
          <p:nvPr/>
        </p:nvSpPr>
        <p:spPr>
          <a:xfrm>
            <a:off x="4471416" y="3566160"/>
            <a:ext cx="2310384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Every rig hour not lost</a:t>
            </a:r>
            <a:endParaRPr lang="en-IN" sz="10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is money not spent</a:t>
            </a:r>
            <a:endParaRPr lang="en-IN" sz="1050" dirty="0"/>
          </a:p>
        </p:txBody>
      </p:sp>
      <p:sp>
        <p:nvSpPr>
          <p:cNvPr id="17432" name="FD_M0_d1"/>
          <p:cNvSpPr/>
          <p:nvPr/>
        </p:nvSpPr>
        <p:spPr>
          <a:xfrm>
            <a:off x="4471416" y="4023360"/>
            <a:ext cx="2310384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Less non-productive time (NPT)</a:t>
            </a:r>
            <a:endParaRPr lang="en-IN" sz="950" dirty="0"/>
          </a:p>
        </p:txBody>
      </p:sp>
      <p:sp>
        <p:nvSpPr>
          <p:cNvPr id="17433" name="FD_M0_d2"/>
          <p:cNvSpPr/>
          <p:nvPr/>
        </p:nvSpPr>
        <p:spPr>
          <a:xfrm>
            <a:off x="4471416" y="4306824"/>
            <a:ext cx="2310384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Fewer stuck-pipe fishing jobs</a:t>
            </a:r>
            <a:endParaRPr lang="en-IN" sz="950" dirty="0"/>
          </a:p>
        </p:txBody>
      </p:sp>
      <p:sp>
        <p:nvSpPr>
          <p:cNvPr id="17434" name="FD_M0_d3"/>
          <p:cNvSpPr/>
          <p:nvPr/>
        </p:nvSpPr>
        <p:spPr>
          <a:xfrm>
            <a:off x="4471416" y="4590288"/>
            <a:ext cx="2310384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No licence fee: open source</a:t>
            </a:r>
            <a:endParaRPr lang="en-IN" sz="950" dirty="0"/>
          </a:p>
        </p:txBody>
      </p:sp>
      <p:sp>
        <p:nvSpPr>
          <p:cNvPr id="17435" name="FD_M1_t"/>
          <p:cNvSpPr txBox="1"/>
          <p:nvPr/>
        </p:nvSpPr>
        <p:spPr>
          <a:xfrm>
            <a:off x="7001256" y="3310128"/>
            <a:ext cx="2310384" cy="21945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Environmental</a:t>
            </a:r>
            <a:endParaRPr lang="en-IN" sz="1250" dirty="0"/>
          </a:p>
        </p:txBody>
      </p:sp>
      <p:sp>
        <p:nvSpPr>
          <p:cNvPr id="17436" name="FD_M1_s"/>
          <p:cNvSpPr txBox="1"/>
          <p:nvPr/>
        </p:nvSpPr>
        <p:spPr>
          <a:xfrm>
            <a:off x="7001256" y="3566160"/>
            <a:ext cx="2310384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Fewer losses and kicks,</a:t>
            </a:r>
            <a:endParaRPr lang="en-IN" sz="10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less waste at the well</a:t>
            </a:r>
            <a:endParaRPr lang="en-IN" sz="1050" dirty="0"/>
          </a:p>
        </p:txBody>
      </p:sp>
      <p:sp>
        <p:nvSpPr>
          <p:cNvPr id="17437" name="FD_M1_d1"/>
          <p:cNvSpPr/>
          <p:nvPr/>
        </p:nvSpPr>
        <p:spPr>
          <a:xfrm>
            <a:off x="7001256" y="4023360"/>
            <a:ext cx="2310384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Less mud lost to the rock</a:t>
            </a:r>
            <a:endParaRPr lang="en-IN" sz="950" dirty="0"/>
          </a:p>
        </p:txBody>
      </p:sp>
      <p:sp>
        <p:nvSpPr>
          <p:cNvPr id="17438" name="FD_M1_d2"/>
          <p:cNvSpPr/>
          <p:nvPr/>
        </p:nvSpPr>
        <p:spPr>
          <a:xfrm>
            <a:off x="7001256" y="4306824"/>
            <a:ext cx="2310384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Fewer rig days, less diesel</a:t>
            </a:r>
            <a:endParaRPr lang="en-IN" sz="950" dirty="0"/>
          </a:p>
        </p:txBody>
      </p:sp>
      <p:sp>
        <p:nvSpPr>
          <p:cNvPr id="17439" name="FD_M1_d3"/>
          <p:cNvSpPr/>
          <p:nvPr/>
        </p:nvSpPr>
        <p:spPr>
          <a:xfrm>
            <a:off x="7001256" y="4590288"/>
            <a:ext cx="2310384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Fewer sidetracks and re-drills</a:t>
            </a:r>
            <a:endParaRPr lang="en-IN" sz="950" dirty="0"/>
          </a:p>
        </p:txBody>
      </p:sp>
      <p:sp>
        <p:nvSpPr>
          <p:cNvPr id="17440" name="FD_M2_t"/>
          <p:cNvSpPr txBox="1"/>
          <p:nvPr/>
        </p:nvSpPr>
        <p:spPr>
          <a:xfrm>
            <a:off x="9531096" y="3310128"/>
            <a:ext cx="2310384" cy="21945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5B3FA0"/>
                </a:solidFill>
                <a:latin typeface="Arial"/>
                <a:ea typeface="Arial"/>
                <a:cs typeface="Arial"/>
                <a:sym typeface="Arial"/>
              </a:rPr>
              <a:t>Social &amp; operational</a:t>
            </a:r>
            <a:endParaRPr lang="en-IN" sz="1250" dirty="0"/>
          </a:p>
        </p:txBody>
      </p:sp>
      <p:sp>
        <p:nvSpPr>
          <p:cNvPr id="17441" name="FD_M2_s"/>
          <p:cNvSpPr txBox="1"/>
          <p:nvPr/>
        </p:nvSpPr>
        <p:spPr>
          <a:xfrm>
            <a:off x="9531096" y="3566160"/>
            <a:ext cx="2310384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Experience stays with Oil India</a:t>
            </a:r>
            <a:endParaRPr lang="en-IN" sz="10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when experts retire</a:t>
            </a:r>
            <a:endParaRPr lang="en-IN" sz="1050" dirty="0"/>
          </a:p>
        </p:txBody>
      </p:sp>
      <p:sp>
        <p:nvSpPr>
          <p:cNvPr id="17442" name="FD_M2_d1"/>
          <p:cNvSpPr/>
          <p:nvPr/>
        </p:nvSpPr>
        <p:spPr>
          <a:xfrm>
            <a:off x="9531096" y="4023360"/>
            <a:ext cx="2310384" cy="214884"/>
          </a:xfrm>
          <a:prstGeom prst="roundRect">
            <a:avLst>
              <a:gd name="adj" fmla="val 21276"/>
            </a:avLst>
          </a:prstGeom>
          <a:solidFill>
            <a:srgbClr val="EEEAF7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Juniors learn from cited cases</a:t>
            </a:r>
            <a:endParaRPr lang="en-IN" sz="950" dirty="0"/>
          </a:p>
        </p:txBody>
      </p:sp>
      <p:sp>
        <p:nvSpPr>
          <p:cNvPr id="17443" name="FD_M2_d2"/>
          <p:cNvSpPr/>
          <p:nvPr/>
        </p:nvSpPr>
        <p:spPr>
          <a:xfrm>
            <a:off x="9531096" y="4306824"/>
            <a:ext cx="2310384" cy="214884"/>
          </a:xfrm>
          <a:prstGeom prst="roundRect">
            <a:avLst>
              <a:gd name="adj" fmla="val 21276"/>
            </a:avLst>
          </a:prstGeom>
          <a:solidFill>
            <a:srgbClr val="EEEAF7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English and Hindi interface</a:t>
            </a:r>
            <a:endParaRPr lang="en-IN" sz="950" dirty="0"/>
          </a:p>
        </p:txBody>
      </p:sp>
      <p:sp>
        <p:nvSpPr>
          <p:cNvPr id="17444" name="FD_M2_d3"/>
          <p:cNvSpPr/>
          <p:nvPr/>
        </p:nvSpPr>
        <p:spPr>
          <a:xfrm>
            <a:off x="9531096" y="4590288"/>
            <a:ext cx="2310384" cy="214884"/>
          </a:xfrm>
          <a:prstGeom prst="roundRect">
            <a:avLst>
              <a:gd name="adj" fmla="val 21276"/>
            </a:avLst>
          </a:prstGeom>
          <a:solidFill>
            <a:srgbClr val="EEEAF7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Safer crews: fewer kick surprises</a:t>
            </a:r>
            <a:endParaRPr lang="en-IN" sz="950" dirty="0"/>
          </a:p>
        </p:txBody>
      </p:sp>
      <p:sp>
        <p:nvSpPr>
          <p:cNvPr id="17445" name="FD_H1"/>
          <p:cNvSpPr/>
          <p:nvPr/>
        </p:nvSpPr>
        <p:spPr>
          <a:xfrm>
            <a:off x="384048" y="5513832"/>
            <a:ext cx="3776472" cy="384048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595959"/>
            </a:solidFill>
            <a:round/>
          </a:ln>
        </p:spPr>
        <p:txBody>
          <a:bodyPr rtlCol="0" anchor="ctr" wrap="square" lIns="73152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Accuracy is measured on synthetic reports —</a:t>
            </a:r>
            <a:endParaRPr lang="en-IN" sz="10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not on Oil India's archive</a:t>
            </a:r>
            <a:endParaRPr lang="en-IN" sz="1050" dirty="0"/>
          </a:p>
        </p:txBody>
      </p:sp>
      <p:sp>
        <p:nvSpPr>
          <p:cNvPr id="17446" name="FD_H2"/>
          <p:cNvSpPr/>
          <p:nvPr/>
        </p:nvSpPr>
        <p:spPr>
          <a:xfrm>
            <a:off x="4251960" y="5513832"/>
            <a:ext cx="3776472" cy="384048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595959"/>
            </a:solidFill>
            <a:round/>
          </a:ln>
        </p:spPr>
        <p:txBody>
          <a:bodyPr rtlCol="0" anchor="ctr" wrap="square" lIns="73152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Real Volve reports: few false alarms, but</a:t>
            </a:r>
            <a:endParaRPr lang="en-IN" sz="10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much rig shorthand still missed</a:t>
            </a:r>
            <a:endParaRPr lang="en-IN" sz="1050" dirty="0"/>
          </a:p>
        </p:txBody>
      </p:sp>
      <p:sp>
        <p:nvSpPr>
          <p:cNvPr id="17447" name="FD_H3"/>
          <p:cNvSpPr/>
          <p:nvPr/>
        </p:nvSpPr>
        <p:spPr>
          <a:xfrm>
            <a:off x="8119872" y="5513832"/>
            <a:ext cx="3776472" cy="384048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595959"/>
            </a:solidFill>
            <a:round/>
          </a:ln>
        </p:spPr>
        <p:txBody>
          <a:bodyPr rtlCol="0" anchor="ctr" wrap="square" lIns="73152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No Oil India NPT figure, no eRTMAC access yet;</a:t>
            </a:r>
            <a:endParaRPr lang="en-IN" sz="10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kick risk is an indicator, not a probability</a:t>
            </a:r>
            <a:endParaRPr lang="en-IN" sz="1050" dirty="0"/>
          </a:p>
        </p:txBody>
      </p:sp>
      <p:sp>
        <p:nvSpPr>
          <p:cNvPr id="17448" name="FD_n"/>
          <p:cNvSpPr txBox="1"/>
          <p:nvPr/>
        </p:nvSpPr>
        <p:spPr>
          <a:xfrm>
            <a:off x="292608" y="5989320"/>
            <a:ext cx="11695176" cy="201168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 i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Industry evidence, not our result: Baker Hughes reports offset-well research cut from five days to five hours with automated offset analysis</a:t>
            </a:r>
            <a:endParaRPr lang="en-IN" sz="1050" dirty="0"/>
          </a:p>
        </p:txBody>
      </p:sp>
      <p:pic>
        <p:nvPicPr>
          <p:cNvPr id="17449" name="FD_A_icon" descr="icon: ic_team.sv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1660" y="2423160"/>
            <a:ext cx="585216" cy="585216"/>
          </a:xfrm>
          <a:prstGeom prst="rect">
            <a:avLst/>
          </a:prstGeom>
        </p:spPr>
      </p:pic>
      <p:pic>
        <p:nvPicPr>
          <p:cNvPr id="17450" name="FD_M0_icon" descr="icon: ic_rupee-saving.sv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3144" y="2587752"/>
            <a:ext cx="566928" cy="566928"/>
          </a:xfrm>
          <a:prstGeom prst="rect">
            <a:avLst/>
          </a:prstGeom>
        </p:spPr>
      </p:pic>
      <p:pic>
        <p:nvPicPr>
          <p:cNvPr id="17451" name="FD_M1_icon" descr="icon: ic_co2-cloud.sv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2984" y="2587752"/>
            <a:ext cx="566928" cy="566928"/>
          </a:xfrm>
          <a:prstGeom prst="rect">
            <a:avLst/>
          </a:prstGeom>
        </p:spPr>
      </p:pic>
      <p:pic>
        <p:nvPicPr>
          <p:cNvPr id="17452" name="FD_M2_icon" descr="icon: ic_team.sv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2824" y="2587752"/>
            <a:ext cx="566928" cy="56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170432"/>
            <a:ext cx="11247120" cy="43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en-IN" sz="13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Everything we used is public and cited — Oil India's own tenders and papers, open North Sea data, and the drilling-AI work we build 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FD_R"/>
          <p:cNvSpPr/>
          <p:nvPr/>
        </p:nvSpPr>
        <p:spPr>
          <a:xfrm>
            <a:off x="292608" y="1755648"/>
            <a:ext cx="11695176" cy="3401568"/>
          </a:xfrm>
          <a:prstGeom prst="roundRect">
            <a:avLst>
              <a:gd name="adj" fmla="val 3225"/>
            </a:avLst>
          </a:prstGeom>
          <a:solidFill>
            <a:srgbClr val="F6F8FC"/>
          </a:solidFill>
          <a:ln w="19050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2" name="FD_R_hdr"/>
          <p:cNvSpPr/>
          <p:nvPr/>
        </p:nvSpPr>
        <p:spPr>
          <a:xfrm>
            <a:off x="292608" y="1755648"/>
            <a:ext cx="11695176" cy="530352"/>
          </a:xfrm>
          <a:prstGeom prst="round2SameRect">
            <a:avLst>
              <a:gd name="adj1" fmla="val 20689"/>
              <a:gd name="adj2" fmla="val 0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73152" tIns="0" rIns="73152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  <a:endParaRPr lang="en-IN" sz="1300" dirty="0"/>
          </a:p>
        </p:txBody>
      </p:sp>
      <p:sp>
        <p:nvSpPr>
          <p:cNvPr id="17413" name="FD_K"/>
          <p:cNvSpPr/>
          <p:nvPr/>
        </p:nvSpPr>
        <p:spPr>
          <a:xfrm>
            <a:off x="292608" y="5266944"/>
            <a:ext cx="11695176" cy="758952"/>
          </a:xfrm>
          <a:prstGeom prst="roundRect">
            <a:avLst>
              <a:gd name="adj" fmla="val 12048"/>
            </a:avLst>
          </a:prstGeom>
          <a:solidFill>
            <a:srgbClr val="F9F7FD"/>
          </a:solidFill>
          <a:ln w="15875">
            <a:solidFill>
              <a:srgbClr val="5B3FA0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4" name="FD_K_hdr"/>
          <p:cNvSpPr/>
          <p:nvPr/>
        </p:nvSpPr>
        <p:spPr>
          <a:xfrm>
            <a:off x="292608" y="5266944"/>
            <a:ext cx="11695176" cy="246888"/>
          </a:xfrm>
          <a:prstGeom prst="round2SameRect">
            <a:avLst>
              <a:gd name="adj1" fmla="val 37037"/>
              <a:gd name="adj2" fmla="val 0"/>
            </a:avLst>
          </a:prstGeom>
          <a:solidFill>
            <a:srgbClr val="5B3FA0"/>
          </a:solidFill>
          <a:ln>
            <a:noFill/>
          </a:ln>
        </p:spPr>
        <p:txBody>
          <a:bodyPr rtlCol="0" anchor="ctr" wrap="square" lIns="109728" tIns="0" rIns="54864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Links (fill in before submission)</a:t>
            </a:r>
            <a:endParaRPr lang="en-IN" sz="1200" dirty="0"/>
          </a:p>
        </p:txBody>
      </p:sp>
      <p:sp>
        <p:nvSpPr>
          <p:cNvPr id="17415" name="FD_R00"/>
          <p:cNvSpPr/>
          <p:nvPr/>
        </p:nvSpPr>
        <p:spPr>
          <a:xfrm>
            <a:off x="384048" y="2377440"/>
            <a:ext cx="5710428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6350">
            <a:solidFill>
              <a:srgbClr val="1F497D"/>
            </a:solidFill>
            <a:round/>
          </a:ln>
        </p:spPr>
        <p:txBody>
          <a:bodyPr rtlCol="0" anchor="ctr" wrap="square" lIns="73152" tIns="9144" rIns="54864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Oil India Ltd — e-RTMAC hiring tender (NIC_CDH6605P21); IDPMS EOI 2023 (eRTMAC feed clause); Project DRIVE 2.0 (oil-india.com/digitalfootprint).</a:t>
            </a:r>
            <a:endParaRPr lang="en-IN" sz="950" dirty="0"/>
          </a:p>
        </p:txBody>
      </p:sp>
      <p:sp>
        <p:nvSpPr>
          <p:cNvPr id="17416" name="FD_R01"/>
          <p:cNvSpPr/>
          <p:nvPr/>
        </p:nvSpPr>
        <p:spPr>
          <a:xfrm>
            <a:off x="384048" y="2825496"/>
            <a:ext cx="5710428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6350">
            <a:solidFill>
              <a:srgbClr val="1F497D"/>
            </a:solidFill>
            <a:round/>
          </a:ln>
        </p:spPr>
        <p:txBody>
          <a:bodyPr rtlCol="0" anchor="ctr" wrap="square" lIns="73152" tIns="9144" rIns="54864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Mandal, K. L. &amp; Dasgupta, R. (2013). Upper Assam Basin and its basinal depositional history. SPG India, 10th Biennial, P292.</a:t>
            </a:r>
            <a:endParaRPr lang="en-IN" sz="950" dirty="0"/>
          </a:p>
        </p:txBody>
      </p:sp>
      <p:sp>
        <p:nvSpPr>
          <p:cNvPr id="17417" name="FD_R02"/>
          <p:cNvSpPr/>
          <p:nvPr/>
        </p:nvSpPr>
        <p:spPr>
          <a:xfrm>
            <a:off x="384048" y="3273552"/>
            <a:ext cx="5710428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6350">
            <a:solidFill>
              <a:srgbClr val="1F497D"/>
            </a:solidFill>
            <a:round/>
          </a:ln>
        </p:spPr>
        <p:txBody>
          <a:bodyPr rtlCol="0" anchor="ctr" wrap="square" lIns="73152" tIns="9144" rIns="54864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Wandrey, C. J. (2004). Sylhet-Kopili/Barail-Tipam Composite Total Petroleum System, Assam Province, India. USGS Bulletin 2208-D.</a:t>
            </a:r>
            <a:endParaRPr lang="en-IN" sz="950" dirty="0"/>
          </a:p>
        </p:txBody>
      </p:sp>
      <p:sp>
        <p:nvSpPr>
          <p:cNvPr id="17418" name="FD_R03"/>
          <p:cNvSpPr/>
          <p:nvPr/>
        </p:nvSpPr>
        <p:spPr>
          <a:xfrm>
            <a:off x="384048" y="3721608"/>
            <a:ext cx="5710428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6350">
            <a:solidFill>
              <a:srgbClr val="1F497D"/>
            </a:solidFill>
            <a:round/>
          </a:ln>
        </p:spPr>
        <p:txBody>
          <a:bodyPr rtlCol="0" anchor="ctr" wrap="square" lIns="73152" tIns="9144" rIns="54864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DGH, MoPNG — National Data Repository (ndr.dghindia.gov.in): India's well completion reports are held largely as unstructured documents.</a:t>
            </a:r>
            <a:endParaRPr lang="en-IN" sz="950" dirty="0"/>
          </a:p>
        </p:txBody>
      </p:sp>
      <p:sp>
        <p:nvSpPr>
          <p:cNvPr id="17419" name="FD_R04"/>
          <p:cNvSpPr/>
          <p:nvPr/>
        </p:nvSpPr>
        <p:spPr>
          <a:xfrm>
            <a:off x="384048" y="4169664"/>
            <a:ext cx="5710428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6350">
            <a:solidFill>
              <a:srgbClr val="1F497D"/>
            </a:solidFill>
            <a:round/>
          </a:ln>
        </p:spPr>
        <p:txBody>
          <a:bodyPr rtlCol="0" anchor="ctr" wrap="square" lIns="73152" tIns="9144" rIns="54864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Equinor (2018). Volve field data set: daily drilling reports, WITSML streams and final well reports — Equinor Open Data Licence.</a:t>
            </a:r>
            <a:endParaRPr lang="en-IN" sz="950" dirty="0"/>
          </a:p>
        </p:txBody>
      </p:sp>
      <p:sp>
        <p:nvSpPr>
          <p:cNvPr id="17420" name="FD_R05"/>
          <p:cNvSpPr/>
          <p:nvPr/>
        </p:nvSpPr>
        <p:spPr>
          <a:xfrm>
            <a:off x="384048" y="4617720"/>
            <a:ext cx="5710428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6350">
            <a:solidFill>
              <a:srgbClr val="1F497D"/>
            </a:solidFill>
            <a:round/>
          </a:ln>
        </p:spPr>
        <p:txBody>
          <a:bodyPr rtlCol="0" anchor="ctr" wrap="square" lIns="73152" tIns="9144" rIns="54864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Sodir, Norwegian Offshore Directorate. FactPages: wellbore history, formation tops and coordinates, under the NLOD licence.</a:t>
            </a:r>
            <a:endParaRPr lang="en-IN" sz="950" dirty="0"/>
          </a:p>
        </p:txBody>
      </p:sp>
      <p:sp>
        <p:nvSpPr>
          <p:cNvPr id="17421" name="FD_R10"/>
          <p:cNvSpPr/>
          <p:nvPr/>
        </p:nvSpPr>
        <p:spPr>
          <a:xfrm>
            <a:off x="6185916" y="2377440"/>
            <a:ext cx="5710428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6350">
            <a:solidFill>
              <a:srgbClr val="1F497D"/>
            </a:solidFill>
            <a:round/>
          </a:ln>
        </p:spPr>
        <p:txBody>
          <a:bodyPr rtlCol="0" anchor="ctr" wrap="square" lIns="73152" tIns="9144" rIns="54864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Parmar, H. S. et al. (2025). IPTC-24705-MS: Complex Risk Assessment of Offset Wells Using Cognitive Analysis. IPTC 2025, Kuala Lumpur.</a:t>
            </a:r>
            <a:endParaRPr lang="en-IN" sz="950" dirty="0"/>
          </a:p>
        </p:txBody>
      </p:sp>
      <p:sp>
        <p:nvSpPr>
          <p:cNvPr id="17422" name="FD_R11"/>
          <p:cNvSpPr/>
          <p:nvPr/>
        </p:nvSpPr>
        <p:spPr>
          <a:xfrm>
            <a:off x="6185916" y="2825496"/>
            <a:ext cx="5710428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6350">
            <a:solidFill>
              <a:srgbClr val="1F497D"/>
            </a:solidFill>
            <a:round/>
          </a:ln>
        </p:spPr>
        <p:txBody>
          <a:bodyPr rtlCol="0" anchor="ctr" wrap="square" lIns="73152" tIns="9144" rIns="54864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Lu, R. (2026). TADI: Tool-Augmented Drilling Intelligence via Agentic LLM Orchestration over Heterogeneous Wellsite Data. arXiv:2605.00060.</a:t>
            </a:r>
            <a:endParaRPr lang="en-IN" sz="950" dirty="0"/>
          </a:p>
        </p:txBody>
      </p:sp>
      <p:sp>
        <p:nvSpPr>
          <p:cNvPr id="17423" name="FD_R12"/>
          <p:cNvSpPr/>
          <p:nvPr/>
        </p:nvSpPr>
        <p:spPr>
          <a:xfrm>
            <a:off x="6185916" y="3273552"/>
            <a:ext cx="5710428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6350">
            <a:solidFill>
              <a:srgbClr val="1F497D"/>
            </a:solidFill>
            <a:round/>
          </a:ln>
        </p:spPr>
        <p:txBody>
          <a:bodyPr rtlCol="0" anchor="ctr" wrap="square" lIns="73152" tIns="9144" rIns="54864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DrillScribe (2026), open repository: Volve DDR → NPT classifier; cross-operator AUC 0.69 → 0.785 with 60 local labelled report-days.</a:t>
            </a:r>
            <a:endParaRPr lang="en-IN" sz="950" dirty="0"/>
          </a:p>
        </p:txBody>
      </p:sp>
      <p:sp>
        <p:nvSpPr>
          <p:cNvPr id="17424" name="FD_R13"/>
          <p:cNvSpPr/>
          <p:nvPr/>
        </p:nvSpPr>
        <p:spPr>
          <a:xfrm>
            <a:off x="6185916" y="3721608"/>
            <a:ext cx="5710428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6350">
            <a:solidFill>
              <a:srgbClr val="1F497D"/>
            </a:solidFill>
            <a:round/>
          </a:ln>
        </p:spPr>
        <p:txBody>
          <a:bodyPr rtlCol="0" anchor="ctr" wrap="square" lIns="73152" tIns="9144" rIns="54864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ANSI/ISA-18.2-2016. Management of Alarm Systems for the Process Industries.</a:t>
            </a:r>
            <a:endParaRPr lang="en-IN" sz="950" dirty="0"/>
          </a:p>
        </p:txBody>
      </p:sp>
      <p:sp>
        <p:nvSpPr>
          <p:cNvPr id="17425" name="FD_R14"/>
          <p:cNvSpPr/>
          <p:nvPr/>
        </p:nvSpPr>
        <p:spPr>
          <a:xfrm>
            <a:off x="6185916" y="4169664"/>
            <a:ext cx="5710428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6350">
            <a:solidFill>
              <a:srgbClr val="1F497D"/>
            </a:solidFill>
            <a:round/>
          </a:ln>
        </p:spPr>
        <p:txBody>
          <a:bodyPr rtlCol="0" anchor="ctr" wrap="square" lIns="73152" tIns="9144" rIns="54864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Chen &amp; Guestrin (2016). XGBoost, KDD · Lundberg &amp; Lee (2017). A Unified Approach to Interpreting Model Predictions (SHAP), NeurIPS.</a:t>
            </a:r>
            <a:endParaRPr lang="en-IN" sz="950" dirty="0"/>
          </a:p>
        </p:txBody>
      </p:sp>
      <p:sp>
        <p:nvSpPr>
          <p:cNvPr id="17426" name="FD_R15"/>
          <p:cNvSpPr/>
          <p:nvPr/>
        </p:nvSpPr>
        <p:spPr>
          <a:xfrm>
            <a:off x="6185916" y="4617720"/>
            <a:ext cx="5710428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6350">
            <a:solidFill>
              <a:srgbClr val="1F497D"/>
            </a:solidFill>
            <a:round/>
          </a:ln>
        </p:spPr>
        <p:txBody>
          <a:bodyPr rtlCol="0" anchor="ctr" wrap="square" lIns="73152" tIns="9144" rIns="54864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Baker Hughes — JewelSuite Offset Well Analyzer ("five days to five hours"); SLB × Dataiku — NLP extraction from daily drilling reports.</a:t>
            </a:r>
            <a:endParaRPr lang="en-IN" sz="950" dirty="0"/>
          </a:p>
        </p:txBody>
      </p:sp>
      <p:sp>
        <p:nvSpPr>
          <p:cNvPr id="17427" name="FD_K1"/>
          <p:cNvSpPr/>
          <p:nvPr/>
        </p:nvSpPr>
        <p:spPr>
          <a:xfrm>
            <a:off x="384048" y="5568696"/>
            <a:ext cx="3776472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5B3FA0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Live dashboard:</a:t>
            </a:r>
            <a:endParaRPr lang="en-IN" sz="10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https://  ________________</a:t>
            </a:r>
            <a:endParaRPr lang="en-IN" sz="1050" dirty="0"/>
          </a:p>
        </p:txBody>
      </p:sp>
      <p:sp>
        <p:nvSpPr>
          <p:cNvPr id="17428" name="FD_K2"/>
          <p:cNvSpPr/>
          <p:nvPr/>
        </p:nvSpPr>
        <p:spPr>
          <a:xfrm>
            <a:off x="4251960" y="5568696"/>
            <a:ext cx="3776472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5B3FA0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Demo video:</a:t>
            </a:r>
            <a:endParaRPr lang="en-IN" sz="10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https://  ________________</a:t>
            </a:r>
            <a:endParaRPr lang="en-IN" sz="1050" dirty="0"/>
          </a:p>
        </p:txBody>
      </p:sp>
      <p:sp>
        <p:nvSpPr>
          <p:cNvPr id="17429" name="FD_K3"/>
          <p:cNvSpPr/>
          <p:nvPr/>
        </p:nvSpPr>
        <p:spPr>
          <a:xfrm>
            <a:off x="8119872" y="5568696"/>
            <a:ext cx="3776472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5B3FA0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GitHub repository:</a:t>
            </a:r>
            <a:endParaRPr lang="en-IN" sz="10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https://  ________________</a:t>
            </a:r>
            <a:endParaRPr lang="en-IN" sz="1050" dirty="0"/>
          </a:p>
        </p:txBody>
      </p:sp>
      <p:sp>
        <p:nvSpPr>
          <p:cNvPr id="17430" name="FD_n"/>
          <p:cNvSpPr txBox="1"/>
          <p:nvPr/>
        </p:nvSpPr>
        <p:spPr>
          <a:xfrm>
            <a:off x="292608" y="6062472"/>
            <a:ext cx="11695176" cy="201168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 i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Oil India and Indian sources for the setting · open North Sea data for real reports · full list with links in the repository (research/)</a:t>
            </a:r>
            <a:endParaRPr lang="en-IN" sz="1050" dirty="0"/>
          </a:p>
        </p:txBody>
      </p:sp>
      <p:pic>
        <p:nvPicPr>
          <p:cNvPr id="17431" name="FD_K1_icon" descr="icon: ic_dashboard.sv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605272"/>
            <a:ext cx="329184" cy="329184"/>
          </a:xfrm>
          <a:prstGeom prst="rect">
            <a:avLst/>
          </a:prstGeom>
        </p:spPr>
      </p:pic>
      <p:pic>
        <p:nvPicPr>
          <p:cNvPr id="17432" name="FD_K2_icon" descr="icon: ic_sensor.sv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5605272"/>
            <a:ext cx="329184" cy="329184"/>
          </a:xfrm>
          <a:prstGeom prst="rect">
            <a:avLst/>
          </a:prstGeom>
        </p:spPr>
      </p:pic>
      <p:pic>
        <p:nvPicPr>
          <p:cNvPr id="17433" name="FD_K3_icon" descr="icon: ic_ai-chip.sv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3024" y="5605272"/>
            <a:ext cx="329184" cy="32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